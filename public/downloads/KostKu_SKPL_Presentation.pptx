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dinus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005840"/>
            <a:ext cx="1371600" cy="13201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206240" y="2560320"/>
            <a:ext cx="3749039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VERSI 2.0 (REVISI G FINAL) • UDINUS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t>KOSTKU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Plus Jakarta Sans"/>
              </a:defRPr>
            </a:pPr>
            <a:r>
              <a:t>Spesifikasi Kebutuhan Perangkat Lunak (SKPL) — Smart Boarding &amp; Hyperlocal Co-Living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Program Studi S1 Teknik Informatika, Fakultas Ilmu Komputer, Universitas Dian Nuswantoro Semarang</a:t>
            </a:r>
          </a:p>
          <a:p>
            <a:pPr algn="ctr"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Tim Penyusun: Oscar Herdian Wijaya (16309) • Yohanes Aryo Suryo (16479) • M. Mirza Fadilah (16354)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Plus Jakarta Sans"/>
              </a:defRPr>
            </a:pPr>
            <a:r>
              <a:t>NAVIGASI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Agenda &amp; Struktur Pembahasan Deck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Track 1: User &amp; Bisnis (Solusi Pengguna)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Problem statement &amp; dilema ekosistem kost konvensional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Tiga pilar nilai unggulan: 0% Komisi, Sundul Kost, &amp; UMKM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User Flow 1: Eksplorasi 3D WebGL &amp; sewa kamar terverifikasi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User Flow 2: Pembayaran QRIS real-time &amp; automated e-receipt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User Flow 3: Skema utilitas 3-jalur (air PDAM &amp; listrik token)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User Flow 4: Integrasi mitra hyperlocal UMKM fee flat Rp 500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User Flow 5: Keamanan hunian, kontrak digital e-sign &amp; komplain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Track 2: Developer &amp; QA (Rekayasa Sistem)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Arsitektur monorepo multi-platform (React 18, Express, APK, Desktop)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Aliran data sistem: Diagram Konteks Level 0 &amp; DFD Level 1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Dekomposisi proses fungsional: DFD Level 2.1 &amp; Level 2.2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Desain basis data: Kamus data 9 entitas &amp; ERD relasional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Standar keamanan: Validasi matematika NIK 16 digit 1 KTP 1 Akun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Resiliensi front-end: React ErrorBoundary &amp; canvas 60 FPS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Matriks evolusi fitur: Ditambahkan, diubah, dihapus (Rev A-G)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Plus Jakarta Sans"/>
              </a:defRPr>
            </a:pPr>
            <a:r>
              <a:t>TRACK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Problem Statement: Dilema Ekosistem Kost Konvensional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Bagi Pencari Kos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Foto kamar sering manipulatif dan tidak sesuai kondisi fisik asli.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Informasi kwh listrik dan air tidak transparan, memicu sengketa.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Maraknya akun palsu yang meminta uang muka sebelum survei.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Ketiadaan kontrak sewa formal berkekuatan hukum.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Bagi Pemilik Kos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Marketplace komersial memotong komisi sewa tinggi 10% - 20%.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Pembukuan kas masuk dan pengeluaran masih manual di buku catatan.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Kamar kosong sulit terisi cepat tanpa promosi berbiaya mahal.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Kesulitan menagih tunggakan listrik berlebih dari penghuni.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73152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Bagi UMKM Sekitar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Usaha laundry kiloan dan katering sekitar kost terisolasi digital.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Tidak memiliki platform pesan-antar langsung ke pintu kamar penghuni.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Terbebani potongan fee aplikasi ojek online yang sangat besar.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Kehilangan potensi pasar ratusan mahasiswa/pekerja kos.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Plus Jakarta Sans"/>
              </a:defRPr>
            </a:pPr>
            <a:r>
              <a:t>TRACK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Nilai Unggulan: Filosofi Zero-Extraction PropTech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0% Komisi Booking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Jaminan 100% uang sewa diterima utuh oleh pemilik kost.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Tidak ada potongan persentase sepeser pun seumur hidup.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Pemilik tidak terbebani potongan biaya operasional platform.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Menumbuhkan loyalitas tinggi pemilik untuk mendaftarkan properti.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Sundul Kost Terjangkau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Opsi promosi sukarela khusus saat ada kamar yang kosong.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Tarif mikro terjangkau: Rp 5.000 untuk 24 jam penayangan.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Listing menempati posisi slot #1 di beranda &amp; pencarian.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Timer hitung mundur 24 jam transparan dan terukur.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Mitra UMKM Flat Rp 500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Menghubungkan warung katering, laundry, &amp; galon air warga.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Biaya administrasi pemeliharaan platform dipatok flat Rp 500.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Sangat murah bagi anak kos dan tidak memotong omset mitra.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Menutup biaya aktif server dan API secara berkelanjutan.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Plus Jakarta Sans"/>
              </a:defRPr>
            </a:pPr>
            <a:r>
              <a:t>TRACK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User Flow 1: Eksplorasi 3D &amp; Pengajuan Sewa Kamar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1. Eksplorasi Visual &amp; Peta GIS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Calon penghuni memutar model 3D WebGL fasad bangunan tropis.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Scrubbing video canvas 60 FPS untuk melihat interior kamar.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Filter radius kampus via peta interaktif Leaflet OpenStreetMap.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2. Pengajuan Sewa Berkas Asli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Calon penyewa menentukan durasi sewa &amp; rencana tanggal check-in.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Menginput NIK 16 digit yang divalidasi keunikan 1 KTP 1 Akun.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Menuliskan catatan khusus atau preferensi fasilitas tambahan.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3. Approval Dashboard Pemilik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Pemilik kos menerima notifikasi pengajuan baru secara instan.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Meninjau profil pemohon, durasi, dan data identitas berkas.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Keputusan satu klik: 'Setujui Permohonan' atau 'Tolak'.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4. Penguncian Kamar Otomatis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Unit kamar otomatis berubah status dari available ke occupied.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Mencegah insiden double booking atas kamar yang sama.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Menerbitkan faktur tagihan sewa awal ke akun penyewa.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Plus Jakarta Sans"/>
              </a:defRPr>
            </a:pPr>
            <a:r>
              <a:t>TRACK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User Flow 2: Pembayaran QRIS &amp; Automated E-Receipt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Penerbitan Invoice Digital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Sistem menghitung tarif pokok kamar, selisih utilitas, &amp; deposit.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Rincian biaya dijabarkan transparan tanpa biaya siluman.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Status tagihan awal terbit berstatus 'pending'.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Scan QRIS Nasional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Penghuni memindai barcode QRIS resmi perbankan.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Kompatibel dengan BCA, Mandiri, BRI, BNI, GoPay, OVO, &amp; Dana.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Mengeliminasi verifikasi manual slip bukti transfer fisik.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Settlement Otomatis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Notifikasi settlement QRIS memvalidasi dana masuk seketika.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Status invoice berubah otomatis dari 'pending' menjadi 'paid'.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Catatan arus kas masuk terbukukan langsung di neraca keuangan.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Automated E-Receipt &amp; Token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Kuitansi resmi bernomor seri unik dikirim otomatis ke email penyewa.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Engine Nodemailer menyematkan bukti transaksi lunas berkas PDF.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Nomor token listrik PLN kamar aktif seketika di dashboard penghuni.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Plus Jakarta Sans"/>
              </a:defRPr>
            </a:pPr>
            <a:r>
              <a:t>TRACK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User Flow 3: Transparansi Skema Utilitas Listrik &amp; Air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Skema 1: All-Kost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Seluruh biaya utilitas (air PDAM &amp; listrik) digabung ke harga sewa.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Penghuni tidak perlu membayar tagihan tambahan apa pun.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Cocok untuk kost mahasiswa reguler berkapasitas besar.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Skema 2: Mandiri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Penghuni mengisi token listrik prabayar sendiri per kamar.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Pemakaian air PDAM dihitung berdasar selisih angka meteran fisik.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Menghilangkan sengketa anak kos yang merasa memakai listrik sedikit.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3657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Skema 3: Parsial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Kombinasi adil: listrik mandiri per unit, air bersih ditanggung kos.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Populer untuk indekos ber-AC di mana konsumsi listrik bervariasi.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Pemilik menetapkan kebijakan melalui switcher pengaturan kos.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86400"/>
            <a:ext cx="10698480" cy="7315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1E3A8A"/>
                </a:solidFill>
                <a:latin typeface="Plus Jakarta Sans"/>
              </a:defRPr>
            </a:pPr>
            <a:r>
              <a:t>💡 Mekanisme Operasional: Staf kos cukup menginput angka meteran fisik awal bulan via aplikasi mobile, sistem menghitung kalkulasi selisih tagihan otomatis ke invoice bulanan.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Plus Jakarta Sans"/>
              </a:defRPr>
            </a:pPr>
            <a:r>
              <a:t>TRACK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User Flow 4: Pemberdayaan UMKM Hyperlocal Flat Rp 500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Katalog Bersyarat Radius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Menu laundry dan katering hanya muncul jika ada mitra aktif di radius kos.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Jika belum ada mitra di area tersebut, antarmuka otomatis disembunyikan.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Menghindarkan kekecewaan penghuni akibat memesan toko fiktif.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Kebebasan Memilih Layanan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Penghuni bebas membandingkan harga dan ulasan antar-mitra sekitar.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Pilihan paket fleksibel: paket express 1 hari vs reguler ekonomis.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Katering makanan sehat mingguan atau bulanan langsung ke kos.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Biaya Mikro Transparan: Rp 500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Fee administrasi platform dipatok flat tepat Rp 500 per pesanan.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Sangat murah bagi penghuni, tanpa potongan persentase ke mitra.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Menutup biaya operasional server dan pengiriman pesan gateway.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Delivery Langsung ke Pintu Kamar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Rincian pesanan diteruskan instan ke WhatsApp mitra UMKM.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Disertai nomor kamar dan nama penghuni untuk pengantaran tepat sasaran.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Status pesanan terpantau: menunggu -&gt; diproses -&gt; dikirim -&gt; selesai.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E0E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2563EB"/>
                </a:solidFill>
                <a:latin typeface="Plus Jakarta Sans"/>
              </a:defRPr>
            </a:pPr>
            <a:r>
              <a:t>TRACK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User Flow 5: Keamanan Hunian, E-Sign &amp; Tiket Komplain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E-Signature Kontrak Digital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Penghuni menandatangani perjanjian sewa di layar sentuh ponsel/laptop.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Kontrak terbit dalam format digital PDF sah tanpa kertas fisik.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Mengikat hak dan kewajiban kedua pihak secara berkekuatan hukum.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Tiket Komplain Berfoto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Laporan kendala AC mati, kran bocor, atau wifi lambat disertai foto.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Bukti foto diambil langsung melalui kamera ponsel saat melapor.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Menghilangkan perselisihan kondisi awal versus kerusakan penghuni.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Pelacakan Siklus 3-Tahap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Status penanganan transparan: Diajukan -&gt; Diproses -&gt; Selesai.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Pemilik kos atau staf dapat mendisposisikan tugas ke teknisi.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Penghuni menerima pembaruan status penyelesaian kendala.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Audit Trail Log Aktivitas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Setiap aksi penting tercatat abadi di buku log digital properti.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Memantau mutasi kamar, perubahan harga, pembayaran, dan tiket.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Menjaga transparansi operasional kos yang terpercaya.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0" y="2560320"/>
            <a:ext cx="3749039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JEMBATAN REKAYASA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t>DARI USER EXPERIENCE KE ARSITEKTUR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Plus Jakarta Sans"/>
              </a:defRPr>
            </a:pPr>
            <a:r>
              <a:t>Bagaimana Kebutuhan Pengguna Diterjemahkan ke Rekayasa Perangkat Lunak &amp; Basis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Peralihan Pembahasan: Dari Kebutuhan Fungsional Pengguna ke Spesifikasi Teknis Pengembang</a:t>
            </a:r>
          </a:p>
          <a:p>
            <a:pPr algn="ctr"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Fokus: Arsitektur Monorepo, Data Flow Diagrams (DFD), Relasi Basis Data 9 Entitas, &amp; Keamanan NIK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  <a:latin typeface="Plus Jakarta Sans"/>
              </a:defRPr>
            </a:pPr>
            <a:r>
              <a:t>TRACK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Arsitektur Monorepo Multi-Platform Terpadu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Front-End: React 18 + Vite 5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Single Page Application (SPA) berbasis Functional Components &amp; Hooks.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Vite 5 HMR kilat sub-detik dengan bundling tree-shaking agresif.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State management via AuthContext &amp; KostContext terisolasi.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Back-End: Node.js + Express API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REST core menyediakan 10+ controller (Auth, Rooms, Invoices, Sundul).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Middleware CORS, authentication guard, &amp; error-handling terpadu.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Automated e-receipt engine Nodemailer dengan fallback Ethereal.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Mobile: Capacitor v8 Native APK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BridgeActivity.java mengemas aset web ke APK Android native.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Akses izin native gawai: kamera foto kamar &amp; GPS geolokasi presisi.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Performa Webview 60 FPS setara aplikasi native murni.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Desktop: Electron v44 Runtime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main.cjs mengelola window OS desktop dan jembatan IPC.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Pengemasan installer satu klik Windows (.exe NSIS) &amp; Linux AppImage.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Kemampuan offline PWA dengan cache-first Service Worker.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  <a:latin typeface="Plus Jakarta Sans"/>
              </a:defRPr>
            </a:pPr>
            <a:r>
              <a:t>TRACK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Aliran Data: Diagram Konteks Level 0 &amp; DFD Level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Diagram Konteks (Level 0) — 7 Entitas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Batasan sistem KostKu berinteraksi dengan 7 entitas luar: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1. Pencari Kos (kriteria filter, formulir sewa, koordinat GPS)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2. Penghuni Kos (konfirmasi bayar, tiket komplain, pesanan mitra)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3. Pemilik Kos (approval sewa, data kamar, aktivasi sundul kost)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4. Staf Kos (input meteran fisik, inspeksi kelayakan kamar)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5. Mitra Afiliasi (katalog menu layanan, penerimaan pesanan)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6. Payment Gateway QRIS (request settlement, verifikasi status)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7. WhatsApp Gateway (pengingat jatuh tempo, tiket order mitra)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Seluruh aliran data masuk dan keluar terdefinisi tanpa celah.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DFD Level 1 — 6 Proses Bisnis Inti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1.0 Autentikasi &amp; Akun: Registrasi 1 KTP 1 NIK 16 digit &amp; sesi peran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2.0 Eksplorasi Visual: Filter GIS Leaflet, 3D WebGL, &amp; video 60 FPS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3.0 Siklus Sewa: Pengajuan sewa kamar &amp; kunci status kamar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4.0 Tagihan &amp; QRIS: Penerbitan invoice &amp; settlement pembayaran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5.0 Layanan &amp; Operasional: Catatan meteran &amp; tiket komplain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6.0 Sundul &amp; Kemitraan: Promosi 24 jam &amp; order mitra fee Rp 500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Terhubung ke 7 Data Store: D1:Users, D2:Kosts, D3:Applications, D4:Invoices, D5:Complaints, D6:Merchants, D7:Activities.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  <a:latin typeface="Plus Jakarta Sans"/>
              </a:defRPr>
            </a:pPr>
            <a:r>
              <a:t>TRACK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Dekomposisi Fungsional: DFD Level 2 Mikro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DFD 2.0: Manajemen Kamar &amp; Properti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2.1 Registrasi Identitas Properti Kos: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Menyimpan nama kos, alamat, kota, dan titik koordinat GPS ke D2.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2.2 Pemetaan Tata Letak &amp; Fasilitas Kamar: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Mencatat nomor unit, lantai, tipe, dan harga dasar ke D2.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2.3 Konfigurasi Skema 3-Jalur Utilitas: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Menyimpan formula tagihan (All-Kost / Mandiri / Parsial) ke D2.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2.4 Sinkronisasi Status Okupansi Kamar: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Memvalidasi status kamar (available / occupied) secara simetris.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Mencatat mutasi status ke audit log D7: Activities.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DFD 4.0 &amp; 6.0: Transaksi &amp; Mitra Afiliasi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4.1 Kalkulasi Tagihan Pokok &amp; Utilitas: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Membaca skema kos dan tarif kamar, menerbitkan invoice di D4.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4.2 Settlement Transaksi QRIS Real-Time: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Validasi callback payment gateway, ubah invoice menjadi paid di D4.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4.3 Penerbitan Kuitansi Digital Lunas: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Generate nomor resi unik, trigger kirim email berkas PDF ke user.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6.1 Katalog Hyperlocal Mitra UMKM Sekitar: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Penyaringan dinamis mitra terdaftar di radius kos dari D6.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6.2 Pembagian Hasil &amp; Mikro Komisi Rp 500: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Hitung subtotal + fee flat Rp 500, teruskan tiket pesanan ke WA mitra.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  <a:latin typeface="Plus Jakarta Sans"/>
              </a:defRPr>
            </a:pPr>
            <a:r>
              <a:t>TRACK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Desain Basis Data: 9 Entitas &amp; Kardinalitas ERD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1. USERS &amp; KOSTS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USERS (id, name, email, phone, nik 16-char, password, role)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KOSTS (uid, ownerId, location, utilityScheme, priceMonthly)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Relasi: 1 Pemilik dapat mengelola N Properti Kos (1:N).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2. ROOMS &amp; APPLICATIONS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ROOMS (id, kostUid, number, floor, basePrice, status)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APPLICATIONS (id, kostUid, userId, duration, status)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Relasi: 1 Kos memiliki N Kamar; 1 Kamar disewa 1 User.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3. INVOICES &amp; ACTIVITIES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INVOICES (id, kostUid, userId, waterCost, total, status, receiptNo)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ACTIVITIES (id, kostUid, type, text, timestamp)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Relasi: 1 Kos menerbitkan N Invoices &amp; mencatat N Activities.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3891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4. COMPLAINTS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COMPLAINTS (id, kostUid, userId, title, photoUrl, status)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Kategori: AC, plumbing, listrik, kebersihan, lainnya.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Relasi: 1 Penghuni dapat mengajukan N Tiket Komplain.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4206240"/>
            <a:ext cx="329184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4206240"/>
            <a:ext cx="329184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389120"/>
            <a:ext cx="2926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5. MERCHANTS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MERCHANTS (id, kostUid, name, category, phone, rating)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Katalog: laundry kiloan, katering sehat, galon air mineral.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Relasi: 1 Kos dapat memiliki N Mitra UMKM terdaftar.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206240"/>
            <a:ext cx="33832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4206240"/>
            <a:ext cx="338328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3891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6. PARTNER_ORDERS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PARTNER_ORDERS (id, kostUid, tenantId, subtotal, adminFee Rp 500)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Menyimpan rincian menu pesanan dan nomor kamar tujuan.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Relasi: 1 Mitra melayani N Pesanan dari Penghuni Kos.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  <a:latin typeface="Plus Jakarta Sans"/>
              </a:defRPr>
            </a:pPr>
            <a:r>
              <a:t>TRACK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Keamanan &amp; Integritas: Validasi NIK 16 Digit 1 KTP 1 Akun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Validasi Matematika NIK 16 Digit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Pendaftar wajib menginput NIK 16 digit yang divalidasi regex dan panjang.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1 NIK hanya boleh terikat pada 1 akun aktif di seluruh basis data.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Mengeliminasi akun ganda dan pelaku booking fiktif secara permanen.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Hash Sandi &amp; Token Peran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Kata sandi pengguna tidak disimpan dalam plaintext, melainkan di-hash.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Autentikasi sesi berbasis otorisasi peran (owner, user, staff, master).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Endpoint API terproteksi menolak akses peran yang tidak berwenang.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Isolasi Multi-Tenant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Pemilik kost hanya dapat melihat &amp; mengedit kos miliknya (ownerId matching).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Switcher multi-properti mempartisi data kos secara ketat dan aman.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Penghuni hanya dapat melihat tagihan dan kamar miliknya sendiri.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Audit Trail Log Digital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Koleksi ACTIVITIES mencatat mutasi data, waktu, dan aktor eksekutor.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Memberikan bukti hukum digital jika terjadi sengketa sewa-menyewa.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Berkas database atomic JSON menjamin keamanan data bebas korupsi.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  <a:latin typeface="Plus Jakarta Sans"/>
              </a:defRPr>
            </a:pPr>
            <a:r>
              <a:t>TRACK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Resiliensi Front-End &amp; Optimasi Performa Layar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React ErrorBoundary Global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ErrorBoundary membungkus rute utama pada App.jsx.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Menangkap runtime exception tak terduga tanpa layar putih (blank screen).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Menyajikan UI pemulihan dengan tombol soft reload yang ramah pengguna.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9360" y="1645920"/>
            <a:ext cx="5120640" cy="7315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Video Scrubbing Canvas 60 FPS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VideoScroll.jsx memanfaatkan requestAnimationFrame &amp; DPR scaling.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Sinkronisasi presisi posisi scroll mouse dengan frame video kamar.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Caching frame WebP efisien di memori tanpa membebani GPU ponsel.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Three.js 3D WebGL Building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KostBuilding.jsx &amp; KostScene.jsx merender model 3D fasad kos tropis.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Dilengkapi panel roster ventilasi beton, tritisan atap, &amp; kisi-kisi kayu jati.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Pencahayaan atmosferik Blue Hour dengan konsumsi memori GPU hemat.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4114800"/>
            <a:ext cx="5120640" cy="2103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09360" y="4114800"/>
            <a:ext cx="5120640" cy="73152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297680"/>
            <a:ext cx="47548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PWA Offline Service Worker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public/sw.js menerapkan strategi caching stale-while-revalidate.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Aplikasi tetap dapat dimuat seketika saat gawai offline / sinyal lemah.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Manifest.json memungkinkan instalasi aplikasi di layar utama gawai.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011680" cy="320040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D9488"/>
                </a:solidFill>
                <a:latin typeface="Plus Jakarta Sans"/>
              </a:defRPr>
            </a:pPr>
            <a:r>
              <a:t>TRACK DEVELOPER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7315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Plus Jakarta Sans"/>
              </a:defRPr>
            </a:pPr>
            <a:r>
              <a:t>Matriks Evolusi Fitur: Added, Modified, Removed (Rev A-G)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Ditambahkan (Added)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Token PLN &amp; meteran PDAM (Rev B)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Capacitor APK &amp; Electron (Rev C)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E-Signature kontrak digital (Rev C)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Three.js 3D &amp; Video Canvas (Rev D)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1 KTP 1 NIK 16 digit validasi (Rev E)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Sundul Kost promosi 24 jam (Rev F)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Mitra UMKM komisi Rp 500 (Rev G)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Global ErrorBoundary (Rev 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29184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Diubah (Modified)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Status kamar auto-occupied saat sewa disetujui (mencegah double booking)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Penggantian simulator fiktif ke verifikasi QRIS perbankan riil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Katalog mitra tampil bersyarat jika ada mitra aktif di radius kos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Migrasi navigasi manual ke react-router-dom declarative routing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Sinkronisasi data offline PWA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73152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A8A"/>
                </a:solidFill>
                <a:latin typeface="Plus Jakarta Sans"/>
              </a:defRPr>
            </a:pPr>
            <a:r>
              <a:t>Dihapus (Removed)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Virtual Tour 360 Panorama: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Dihapus karena distorsi fisheye &amp; file &gt;30MB memperlambat Android.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Iklan Pop-up Pihak Ketiga: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Dihapus demi menjaga estetika visual UI &amp; privasi data pengguna.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• Komisi Potongan Sewa 10%-20%:</a:t>
            </a:r>
          </a:p>
          <a:p>
            <a:pPr>
              <a:spcAft>
                <a:spcPts val="400"/>
              </a:spcAft>
              <a:defRPr sz="1100">
                <a:solidFill>
                  <a:srgbClr val="475569"/>
                </a:solidFill>
                <a:latin typeface="Plus Jakarta Sans"/>
              </a:defRPr>
            </a:pPr>
            <a:r>
              <a:t>  Dihapus untuk menegakkan 0% komisi sewa bagi pemilik seumur hidup.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206240" y="2560320"/>
            <a:ext cx="3749039" cy="411480"/>
          </a:xfrm>
          <a:prstGeom prst="roundRect">
            <a:avLst/>
          </a:prstGeom>
          <a:solidFill>
            <a:srgbClr val="1E3A8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Plus Jakarta Sans"/>
              </a:defRPr>
            </a:pPr>
            <a:r>
              <a:t>VERIFIKASI QA: 100% PASS (UNLAZY GATES VERIFIED)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Plus Jakarta Sans"/>
              </a:defRPr>
            </a:pPr>
            <a:r>
              <a:t>KESIMPULAN &amp; SESI TANYA JAWAB (Q&amp;A)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976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38BDF8"/>
                </a:solidFill>
                <a:latin typeface="Plus Jakarta Sans"/>
              </a:defRPr>
            </a:pPr>
            <a:r>
              <a:t>KostKu Siap Digelar sebagai Solusi Digital Co-Living Modern Indonesia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✓ Kepatuhan Akademik: Memenuhi standar kurikulum S1 Teknik Informatika UDINUS Semarang</a:t>
            </a:r>
          </a:p>
          <a:p>
            <a:pPr algn="ctr"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✓ Kesiapan Produksi: Multi-platform (Web, Android APK, Desktop) teruji bebas galat pada 14 rute</a:t>
            </a:r>
          </a:p>
          <a:p>
            <a:pPr algn="ctr"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✓ Dampak Ekosistem: Menjamin 0% komisi bagi pemilik kos dan memberdayakan UMKM warga sekitar</a:t>
            </a:r>
          </a:p>
          <a:p>
            <a:pPr algn="ctr">
              <a:defRPr sz="1200">
                <a:solidFill>
                  <a:srgbClr val="CBD5E1"/>
                </a:solidFill>
                <a:latin typeface="Plus Jakarta Sans"/>
              </a:defRPr>
            </a:pPr>
          </a:p>
          <a:p>
            <a:pPr algn="ctr">
              <a:defRPr sz="1200">
                <a:solidFill>
                  <a:srgbClr val="CBD5E1"/>
                </a:solidFill>
                <a:latin typeface="Plus Jakarta Sans"/>
              </a:defRPr>
            </a:pPr>
            <a:r>
              <a:t>Terima kasih atas perhatian Dewan Penguji &amp; Dosen Pembimbing. Kami membuka sesi tanya jawab.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