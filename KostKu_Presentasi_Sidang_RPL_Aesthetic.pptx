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Naskah Presentasi:</a:t>
            </a:r>
          </a:p>
          <a:p>
            <a:r>
              <a:t>Selamat pagi Bapak dan Ibu Dosen/Guru Penguji. Mari kita mulai dengan fakta lapangan: Industri pencarian dan pengelolaan indekos di Indonesia saat ini terjebak dalam mismatch ekspektasi yang cukup tinggi.</a:t>
            </a:r>
          </a:p>
          <a:p/>
          <a:p>
            <a:r>
              <a:t>Pencari kos sering tertipu oleh foto sudut lebar yang memanipulasi skala ruangan. Di sisi lain, pemilik kos berjuang manual mencatat pembayaran dan utilitas listrik di buku tulis yang rentan rusak.</a:t>
            </a:r>
          </a:p>
          <a:p/>
          <a:p>
            <a:r>
              <a:t>Hari ini, kami memperkenalkan KostKu—ekosistem digital dua sisi dengan Architectural 2D Blueprint Engine dan sistem back-office local-first.</a:t>
            </a:r>
          </a:p>
          <a:p/>
          <a:p>
            <a:r>
              <a:t>Tips Pembawaan:</a:t>
            </a:r>
          </a:p>
          <a:p>
            <a:r>
              <a:t>- Gestur: Berdiri tegak di tengah, tatap mata penguji secara bergantian.</a:t>
            </a:r>
          </a:p>
          <a:p>
            <a:r>
              <a:t>- Pointer: Tunjuk kontras solusi aplikasi modern vs cara tradisional.</a:t>
            </a:r>
          </a:p>
          <a:p>
            <a:r>
              <a:t>- Penekanan: Berikan jeda suara tepat setelah menyebut 'KostKu'.</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Naskah Presentasi:</a:t>
            </a:r>
          </a:p>
          <a:p>
            <a:r>
              <a:t>Berdasarkan analisis kebutuhan perangkat lunak kami, ada 2 pilar masalah utama:</a:t>
            </a:r>
          </a:p>
          <a:p>
            <a:r>
              <a:t>Pertama dari sudut pandang penyewa: Foto promosi umum di marketplace kerap manipulatif. Penyewa tidak tahu apakah kasur queen size atau meja kerja muat sebelum survei fisik.</a:t>
            </a:r>
          </a:p>
          <a:p/>
          <a:p>
            <a:r>
              <a:t>Kedua dari sudut pandang pengelola: Pembukuan manual dan perhitungan variabel listrik meteran masih dihitung manual. Hal ini memicu sengketa perhitungan angka kWh dan menyita waktu berjam-jam tiap bulan.</a:t>
            </a:r>
          </a:p>
          <a:p/>
          <a:p>
            <a:r>
              <a:t>Tips Pembawaan:</a:t>
            </a:r>
          </a:p>
          <a:p>
            <a:r>
              <a:t>- Gestur: Tangan terbuka membandingkan kiri (penyewa) dan kanan (pengelola).</a:t>
            </a:r>
          </a:p>
          <a:p>
            <a:r>
              <a:t>- Pointer: Tunjuk kontras perbandingan foto wide-angle vs realita.</a:t>
            </a:r>
          </a:p>
          <a:p>
            <a:r>
              <a:t>- Penekanan: Tegaskan kata 'sengketa perhitungan' untuk membangun urgensi solusi teknis.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Naskah Presentasi:</a:t>
            </a:r>
          </a:p>
          <a:p>
            <a:r>
              <a:t>Inilah fondasi inovasi teknis utama dari KostKu: Architectural 2D Blueprint Engine. Kami tidak mengandalkan foto statis atau media 360 yang berat kuota. Kami merancang rendering denah berbasis SVG interaktif berskala presisi 1:50.</a:t>
            </a:r>
          </a:p>
          <a:p/>
          <a:p>
            <a:r>
              <a:t>Pencari kos dapat melihat objek ruangan secara aktual—termasuk proporsi kasur queen size 160x200 cm, tata letak meja kerja, hingga bukaan jendela.</a:t>
            </a:r>
          </a:p>
          <a:p/>
          <a:p>
            <a:r>
              <a:t>Data denah bersifat dinamis. Ketika kamar terisi di back-office, status visual di marketplace langsung terupdate secara instan.</a:t>
            </a:r>
          </a:p>
          <a:p/>
          <a:p>
            <a:r>
              <a:t>Tips Pembawaan:</a:t>
            </a:r>
          </a:p>
          <a:p>
            <a:r>
              <a:t>- Gestur: Bergerak mendekati layar atau gunakan pointer kursor menyusuri garis denah.</a:t>
            </a:r>
          </a:p>
          <a:p>
            <a:r>
              <a:t>- Pointer: Tunjukkan objek kasur dan bukaan jendela di dalam denah.</a:t>
            </a:r>
          </a:p>
          <a:p>
            <a:r>
              <a:t>- Penekanan: Tekan kata 'skala presisi 1:50' dan 'ukuran aktual'.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Naskah Presentasi:</a:t>
            </a:r>
          </a:p>
          <a:p>
            <a:r>
              <a:t>Selain menghadirkan pengalaman visual untuk pencari kos, KostKu menyederhanakan operasional pengelola melalui modul otomatisasi tagihan utilitas.</a:t>
            </a:r>
          </a:p>
          <a:p/>
          <a:p>
            <a:r>
              <a:t>Sistem kami mengimplementasikan logika matematis otomatis. Pengelola cukup memasukkan angka meteran akhir, dan sistem secara otomatis mengkalkulasikan selisih pemakaian dikali tarif per kWh, kemudian menggabungkannya dengan sewa pokok.</a:t>
            </a:r>
          </a:p>
          <a:p/>
          <a:p>
            <a:r>
              <a:t>Setelah tagihan terbuat, sistem memfasilitasi komunikasi lewat deep-link 1-klik ke WhatsApp. Rincian tagihan transparan langsung sampai ke nomor penyewa tanpa repot ketik manual.</a:t>
            </a:r>
          </a:p>
          <a:p/>
          <a:p>
            <a:r>
              <a:t>Tips Pembawaan:</a:t>
            </a:r>
          </a:p>
          <a:p>
            <a:r>
              <a:t>- Gestur: Gerakan tangan menunjuk dari input data ke hasil akhir pesan WA.</a:t>
            </a:r>
          </a:p>
          <a:p>
            <a:r>
              <a:t>- Pointer: Sorot formula Meter_Akhir - Meter_Awal lalu tunjukkan hasil pesan WA.</a:t>
            </a:r>
          </a:p>
          <a:p>
            <a:r>
              <a:t>- Penekanan: Berikan penekanan pada frasa '1-klik ke WhatsApp'.</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Naskah Presentasi:</a:t>
            </a:r>
          </a:p>
          <a:p>
            <a:r>
              <a:t>Untuk menjamin keandalan sistem, KostKu dibangun dengan pendekatan Hybrid Local-First Architecture.</a:t>
            </a:r>
          </a:p>
          <a:p/>
          <a:p>
            <a:r>
              <a:t>Di sisi frontend, kami memanfaatkan React 18 dan Vite. Di sisi runtime aplikasi, kami membungkus kode dasar yang sama menggunakan Capacitor untuk Android, Electron untuk Desktop, serta PWA untuk perambah web.</a:t>
            </a:r>
          </a:p>
          <a:p/>
          <a:p>
            <a:r>
              <a:t>Prinsip Local-First memastikan bahwa pengelola kos tetap dapat melakukan pembukuan dan mencatat transaksi meskipun internet terputus. Data disimpan lokal berbasis SQLite, yang kemudian secara asinkron disinkronkan ke cloud Supabase ketika internet kembali aktif.</a:t>
            </a:r>
          </a:p>
          <a:p/>
          <a:p>
            <a:r>
              <a:t>Tips Pembawaan:</a:t>
            </a:r>
          </a:p>
          <a:p>
            <a:r>
              <a:t>- Gestur: Tangan merentang horizontal menunjukkan cakupan cross-platform.</a:t>
            </a:r>
          </a:p>
          <a:p>
            <a:r>
              <a:t>- Pointer: Tunjukkan jalur sinkronisasi antara Embedded Local SQLite dan Cloud Supabase.</a:t>
            </a:r>
          </a:p>
          <a:p>
            <a:r>
              <a:t>- Penekanan: Tegaskan kata 'tetap dapat bekerja meskipun internet terputus'.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Naskah Presentasi:</a:t>
            </a:r>
          </a:p>
          <a:p>
            <a:r>
              <a:t>Sistem KostKu dirancang untuk melayani dua persona pengguna utama dengan alur kerja yang sangat terpisah namun terintegrasi dalam satu platform.</a:t>
            </a:r>
          </a:p>
          <a:p/>
          <a:p>
            <a:r>
              <a:t>Pada Public Flow di atas, alur dibuat sangat efisien tanpa hambatan registrasi yang tidak perlu. Pencari kos dapat langsung mengeksplorasi denah 2D dan melakukan kontak langsung dengan pemilik kos.</a:t>
            </a:r>
          </a:p>
          <a:p/>
          <a:p>
            <a:r>
              <a:t>Pada Admin Flow di bawah, alur diproteksi dengan otentikasi ketat. Pengelola dapat memantau tingkat hunian melalui dashboard, mencatat utilitas, dan memantau arus kas keuangan secara terstruktur.</a:t>
            </a:r>
          </a:p>
          <a:p/>
          <a:p>
            <a:r>
              <a:t>Tips Pembawaan:</a:t>
            </a:r>
          </a:p>
          <a:p>
            <a:r>
              <a:t>- Gestur: Bergerak dari atas ke bawah mengikuti dua alur pengguna.</a:t>
            </a:r>
          </a:p>
          <a:p>
            <a:r>
              <a:t>- Pointer: Telusuri garis dari entry hingga action akhir di masing-masing jalur.</a:t>
            </a:r>
          </a:p>
          <a:p>
            <a:r>
              <a:t>- Penekanan: Sebutkan frasa 'tanpa hambatan registrasi' untuk menegaskan keunggulan UX.</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Naskah Presentasi:</a:t>
            </a:r>
          </a:p>
          <a:p>
            <a:r>
              <a:t>Masuk ke pendalaman teknis sistem, slide ini menggambarkan dua mekanisme kritis dalam lifecycle aplikasi KostKu.</a:t>
            </a:r>
          </a:p>
          <a:p/>
          <a:p>
            <a:r>
              <a:t>Di sebelah kiri, diagram alur Auto-Update menunjukkan bagaimana aplikasi memeriksa pembaruan versi biner secara berkala. Aplikasi secara mandiri melakukan unduhan patch efisien tanpa perlu instalasi ulang menyeluruh.</a:t>
            </a:r>
          </a:p>
          <a:p/>
          <a:p>
            <a:r>
              <a:t>Di sebelah kanan, kami memperlihatkan manajemen Service Worker pada versi PWA dengan strategi Network-First dan pembersihan cache otomatis saat terjadi perubahan struktur data, menghindari resiko data usang.</a:t>
            </a:r>
          </a:p>
          <a:p/>
          <a:p>
            <a:r>
              <a:t>Tips Pembawaan:</a:t>
            </a:r>
          </a:p>
          <a:p>
            <a:r>
              <a:t>- Gestur: Postur tenang dan profesional, menunjukkan penguasaan teknis yang matang.</a:t>
            </a:r>
          </a:p>
          <a:p>
            <a:r>
              <a:t>- Pointer: Tunjukkan urutan method dari atas ke bawah pada kedua skenario.</a:t>
            </a:r>
          </a:p>
          <a:p>
            <a:r>
              <a:t>- Penekanan: Gunakan istilah teknis seperti 'Network-First', 'Cache Invalidation', dan 'SemVer Parsing' secara presisi.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Naskah Presentasi:</a:t>
            </a:r>
          </a:p>
          <a:p>
            <a:r>
              <a:t>Bagaimana KostKu bertahan dan memenangkan persaingan pasar? Jawabannya terletak pada model bisnis dan competitive moats yang kami bangun.</a:t>
            </a:r>
          </a:p>
          <a:p/>
          <a:p>
            <a:r>
              <a:t>Platform pesaing umumnya memotong komisi 5 hingga 15 persen dari nilai sewa. Model ini memberatkan pemilik dan memicu transaksi gelap di luar sistem. KostKu menerapkan 0% komisi transaksi sewa, dan beralih ke model langganan perangkat lunak (SaaS) dengan tarif terjangkau sebesar 49 ribu hingga 99 ribu Rupiah per bulan.</a:t>
            </a:r>
          </a:p>
          <a:p/>
          <a:p>
            <a:r>
              <a:t>Nilai pertahanan utama kami terletak pada High Switching Cost. Ketika pengelola telah memasukkan riwayat keuangan dan rancangan denah SVG di KostKu, biaya untuk berpindah ke sistem lain menjadi sangat tinggi, sehingga memberikan recurring revenue yang stabil bagi platform.</a:t>
            </a:r>
          </a:p>
          <a:p/>
          <a:p>
            <a:r>
              <a:t>Tips Pembawaan:</a:t>
            </a:r>
          </a:p>
          <a:p>
            <a:r>
              <a:t>- Gestur: Tunjukkan telapak tangan mengepal secara mantap saat menyebutkan 'High Switching Cost'.</a:t>
            </a:r>
          </a:p>
          <a:p>
            <a:r>
              <a:t>- Pointer: Tunjukkan titik potong efisiensi biaya pada model SaaS vs Komisi Persenan.</a:t>
            </a:r>
          </a:p>
          <a:p>
            <a:r>
              <a:t>- Penekanan: Tekan frasa '0% komisi transaksi' dan 'SaaS terjangkau' sebagai nilai tawar bisnis.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Naskah Presentasi:</a:t>
            </a:r>
          </a:p>
          <a:p>
            <a:r>
              <a:t>Proyek Rekayasa Perangkat Lunak KostKu dirancang dan dieksekusi dalam siklus sprint selama 4 minggu yang terukur secara disiplin.</a:t>
            </a:r>
          </a:p>
          <a:p/>
          <a:p>
            <a:r>
              <a:t>Untuk memastikan transparansi pengerjaan, kami menerapkan kerangka kerja RACI Matrix. Setiap pilar utama—seperti pengoptimalan mesin denah SVG, arsitektur sinkronisasi Local-First, pengujian lintas platform, hingga integrasi tautan WhatsApp—memiliki penanggung jawab (Responsible) dan pemegang keputusan tertinggi (Accountable) yang terdefinisi dengan jelas.</a:t>
            </a:r>
          </a:p>
          <a:p/>
          <a:p>
            <a:r>
              <a:t>Struktur tata kelola ini memungkinkan tim kami menyelesaikan seluruh target fungsionalitas aplikasi tepat waktu dengan standar kualitas codebase yang siap untuk diimplementasikan ke lingkungan produksi.</a:t>
            </a:r>
          </a:p>
          <a:p/>
          <a:p>
            <a:r>
              <a:t>Tips Pembawaan:</a:t>
            </a:r>
          </a:p>
          <a:p>
            <a:r>
              <a:t>- Gestur: Berdiri sejajar dengan tabel, gunakan gerakan tangan terbuka mengarah ke seluruh nama anggota tim.</a:t>
            </a:r>
          </a:p>
          <a:p>
            <a:r>
              <a:t>- Pointer: Sorot baris milestone penting pada matriks RACI.</a:t>
            </a:r>
          </a:p>
          <a:p>
            <a:r>
              <a:t>- Penekanan: Tutup kalimat dengan nada tegas dan percaya diri untuk mengakhiri sesi presentasi utama.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Naskah Presentasi:</a:t>
            </a:r>
          </a:p>
          <a:p>
            <a:r>
              <a:t>Sekian pemaparan presentasi dari kami mengenai arsitektur dan inovasi KostKu. Kami siap mendemonstrasikan sistem secara langsung dan membuka sesi tanya-jawab kepada Bapak dan Ibu Penguji. Terima kasih banyak!</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Jawaban Pertahanan Dosen Penguji:</a:t>
            </a:r>
          </a:p>
          <a:p>
            <a:r>
              <a:t>Jika ditanya: 'Kenapa tidak pakai Virtual Tour 360 seperti Matterport?'</a:t>
            </a:r>
          </a:p>
          <a:p/>
          <a:p>
            <a:r>
              <a:t>Jawab dengan 3 poin kunci:</a:t>
            </a:r>
          </a:p>
          <a:p>
            <a:r>
              <a:t>1. Bandwidth: &lt;15KB vs 50MB per kamar.</a:t>
            </a:r>
          </a:p>
          <a:p>
            <a:r>
              <a:t>2. Presisi: Lensa 360 mendistorsi ukuran, sedangkan denah SVG berskala 1:50 akurat per sentimeter.</a:t>
            </a:r>
          </a:p>
          <a:p>
            <a:r>
              <a:t>3. Maintenance: Ubah denah cukup ubah data JSON, foto 360 harus foto ulang mahal.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Jawaban Pertahanan Dosen Penguji:</a:t>
            </a:r>
          </a:p>
          <a:p>
            <a:r>
              <a:t>Jika ditanya: 'Kenapa pakai SQLite lokal dan bukan full cloud database?'</a:t>
            </a:r>
          </a:p>
          <a:p/>
          <a:p>
            <a:r>
              <a:t>Jawab dengan 3 poin kunci:</a:t>
            </a:r>
          </a:p>
          <a:p>
            <a:r>
              <a:t>1. Ketahanan offline saat mati lampu / sinyal lemah di lokasi kost.</a:t>
            </a:r>
          </a:p>
          <a:p>
            <a:r>
              <a:t>2. Hemat biaya cloud server hingga 80% karena komputasi harian di perangkat pengguna.</a:t>
            </a:r>
          </a:p>
          <a:p>
            <a:r>
              <a:t>3. Kedaulatan data pemilik kost aman di penyimpanan lokal.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Jawaban Pertahanan Dosen Penguji:</a:t>
            </a:r>
          </a:p>
          <a:p>
            <a:r>
              <a:t>Jika ditanya: 'Kenapa kasih WhatsApp langsung? Bukankah aplikasi jadi ditinggalkan?'</a:t>
            </a:r>
          </a:p>
          <a:p/>
          <a:p>
            <a:r>
              <a:t>Jawab dengan 3 poin kunci:</a:t>
            </a:r>
          </a:p>
          <a:p>
            <a:r>
              <a:t>1. Posisi kami adalah penyedia perangkat lunak manajemen (SaaS), bukan calo komisi.</a:t>
            </a:r>
          </a:p>
          <a:p>
            <a:r>
              <a:t>2. Menghilangkan fenomena bypass transaksi yang merugikan platform calo.</a:t>
            </a:r>
          </a:p>
          <a:p>
            <a:r>
              <a:t>3. Pemilik kost tetap loyal berlangganan karena fitur otomasi kwitansi, listrik, dan inventarisnya sangat membantu.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640080"/>
            <a:ext cx="10728655" cy="5577840"/>
          </a:xfrm>
          <a:prstGeom prst="roundRect">
            <a:avLst/>
          </a:prstGeom>
          <a:solidFill>
            <a:srgbClr val="FFFFFF"/>
          </a:solidFill>
          <a:ln w="19050">
            <a:solidFill>
              <a:srgbClr val="F472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188720" y="1097280"/>
            <a:ext cx="4389120" cy="411480"/>
          </a:xfrm>
          <a:prstGeom prst="roundRect">
            <a:avLst/>
          </a:prstGeom>
          <a:solidFill>
            <a:srgbClr val="FEE2E2"/>
          </a:solidFill>
          <a:ln>
            <a:solidFill>
              <a:srgbClr val="F472B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E11D48"/>
                </a:solidFill>
              </a:defRPr>
            </a:pPr>
            <a:r>
              <a:t>🌸 SIDANG UJIAN PROYEK REKAYASA PERANGKAT LUNAK (RPL)</a:t>
            </a:r>
          </a:p>
        </p:txBody>
      </p:sp>
      <p:sp>
        <p:nvSpPr>
          <p:cNvPr id="5" name="TextBox 4"/>
          <p:cNvSpPr txBox="1"/>
          <p:nvPr/>
        </p:nvSpPr>
        <p:spPr>
          <a:xfrm>
            <a:off x="1188720" y="1645920"/>
            <a:ext cx="9784080" cy="2011680"/>
          </a:xfrm>
          <a:prstGeom prst="rect">
            <a:avLst/>
          </a:prstGeom>
          <a:noFill/>
        </p:spPr>
        <p:txBody>
          <a:bodyPr wrap="square">
            <a:spAutoFit/>
          </a:bodyPr>
          <a:lstStyle/>
          <a:p>
            <a:pPr>
              <a:defRPr sz="3000" b="1">
                <a:solidFill>
                  <a:srgbClr val="312E81"/>
                </a:solidFill>
              </a:defRPr>
            </a:pPr>
            <a:r>
              <a:t>KOSTKU ✦ SMART BOARDING PLATFORM</a:t>
            </a:r>
          </a:p>
          <a:p>
            <a:pPr>
              <a:defRPr sz="1300">
                <a:solidFill>
                  <a:srgbClr val="64748B"/>
                </a:solidFill>
              </a:defRPr>
            </a:pPr>
            <a:r>
              <a:t>Ekosistem Digital Terpadu Dua Sisi: Marketplace Denah Interaktif 2D &amp; Back-Office Pengelola Kos</a:t>
            </a:r>
          </a:p>
        </p:txBody>
      </p:sp>
      <p:sp>
        <p:nvSpPr>
          <p:cNvPr id="6" name="Rounded Rectangle 5"/>
          <p:cNvSpPr/>
          <p:nvPr/>
        </p:nvSpPr>
        <p:spPr>
          <a:xfrm>
            <a:off x="1188720" y="3566160"/>
            <a:ext cx="3154680" cy="1463040"/>
          </a:xfrm>
          <a:prstGeom prst="roundRect">
            <a:avLst/>
          </a:prstGeom>
          <a:solidFill>
            <a:srgbClr val="FFF1F2"/>
          </a:solidFill>
          <a:ln w="15240">
            <a:solidFill>
              <a:srgbClr val="F472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312E81"/>
                </a:solidFill>
              </a:defRPr>
            </a:pPr>
            <a:r>
              <a:t>🎀 0% Komisi</a:t>
            </a:r>
          </a:p>
          <a:p>
            <a:pPr>
              <a:defRPr sz="900">
                <a:solidFill>
                  <a:srgbClr val="475569"/>
                </a:solidFill>
              </a:defRPr>
            </a:pPr>
            <a:r>
              <a:t>Bebas biaya sewa tanpa komisi potongan mencekik</a:t>
            </a:r>
          </a:p>
        </p:txBody>
      </p:sp>
      <p:sp>
        <p:nvSpPr>
          <p:cNvPr id="7" name="Rounded Rectangle 6"/>
          <p:cNvSpPr/>
          <p:nvPr/>
        </p:nvSpPr>
        <p:spPr>
          <a:xfrm>
            <a:off x="4526280" y="3566160"/>
            <a:ext cx="3154680" cy="1463040"/>
          </a:xfrm>
          <a:prstGeom prst="roundRect">
            <a:avLst/>
          </a:prstGeom>
          <a:solidFill>
            <a:srgbClr val="F3E8FF"/>
          </a:solidFill>
          <a:ln w="15240">
            <a:solidFill>
              <a:srgbClr val="C084F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312E81"/>
                </a:solidFill>
              </a:defRPr>
            </a:pPr>
            <a:r>
              <a:t>✨ &lt;15KB SVG Denah</a:t>
            </a:r>
          </a:p>
          <a:p>
            <a:pPr>
              <a:defRPr sz="900">
                <a:solidFill>
                  <a:srgbClr val="475569"/>
                </a:solidFill>
              </a:defRPr>
            </a:pPr>
            <a:r>
              <a:t>Vektor denah interaktif skala arsitektur presisi 1:50</a:t>
            </a:r>
          </a:p>
        </p:txBody>
      </p:sp>
      <p:sp>
        <p:nvSpPr>
          <p:cNvPr id="8" name="Rounded Rectangle 7"/>
          <p:cNvSpPr/>
          <p:nvPr/>
        </p:nvSpPr>
        <p:spPr>
          <a:xfrm>
            <a:off x="7863840" y="3566160"/>
            <a:ext cx="3154680" cy="1463040"/>
          </a:xfrm>
          <a:prstGeom prst="roundRect">
            <a:avLst/>
          </a:prstGeom>
          <a:solidFill>
            <a:srgbClr val="ECFDF5"/>
          </a:solidFill>
          <a:ln w="15240">
            <a:solidFill>
              <a:srgbClr val="6EE7B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312E81"/>
                </a:solidFill>
              </a:defRPr>
            </a:pPr>
            <a:r>
              <a:t>💻 Local-First Sync</a:t>
            </a:r>
          </a:p>
          <a:p>
            <a:pPr>
              <a:defRPr sz="900">
                <a:solidFill>
                  <a:srgbClr val="475569"/>
                </a:solidFill>
              </a:defRPr>
            </a:pPr>
            <a:r>
              <a:t>Bisa operasional tanpa internet + Cloud Sync Supabase</a:t>
            </a:r>
          </a:p>
        </p:txBody>
      </p:sp>
      <p:sp>
        <p:nvSpPr>
          <p:cNvPr id="9" name="TextBox 8"/>
          <p:cNvSpPr txBox="1"/>
          <p:nvPr/>
        </p:nvSpPr>
        <p:spPr>
          <a:xfrm>
            <a:off x="1188720" y="5303520"/>
            <a:ext cx="9784080" cy="731520"/>
          </a:xfrm>
          <a:prstGeom prst="rect">
            <a:avLst/>
          </a:prstGeom>
          <a:noFill/>
        </p:spPr>
        <p:txBody>
          <a:bodyPr wrap="none">
            <a:spAutoFit/>
          </a:bodyPr>
          <a:lstStyle/>
          <a:p>
            <a:pPr>
              <a:defRPr sz="950" b="1">
                <a:solidFill>
                  <a:srgbClr val="9CA3AF"/>
                </a:solidFill>
              </a:defRPr>
            </a:pPr>
            <a:r>
              <a:t>Dibuat dengan penuh dedikasi &amp; logika koding oleh: Tim Siswi Rekayasa Perangkat Lunak (RPL) ✦ v1.0.3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E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472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20040"/>
            <a:ext cx="4114800" cy="384048"/>
          </a:xfrm>
          <a:prstGeom prst="roundRect">
            <a:avLst/>
          </a:prstGeom>
          <a:solidFill>
            <a:srgbClr val="FFE4E6"/>
          </a:solidFill>
          <a:ln w="12700">
            <a:solidFill>
              <a:srgbClr val="F472B6"/>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E11D48"/>
                </a:solidFill>
              </a:defRPr>
            </a:pPr>
            <a:r>
              <a:t>💡 IDENTIFIKASI MASALAH</a:t>
            </a:r>
          </a:p>
        </p:txBody>
      </p:sp>
      <p:sp>
        <p:nvSpPr>
          <p:cNvPr id="5" name="TextBox 4"/>
          <p:cNvSpPr txBox="1"/>
          <p:nvPr/>
        </p:nvSpPr>
        <p:spPr>
          <a:xfrm>
            <a:off x="9326880" y="320040"/>
            <a:ext cx="2103120" cy="365760"/>
          </a:xfrm>
          <a:prstGeom prst="rect">
            <a:avLst/>
          </a:prstGeom>
          <a:noFill/>
        </p:spPr>
        <p:txBody>
          <a:bodyPr wrap="none">
            <a:spAutoFit/>
          </a:bodyPr>
          <a:lstStyle/>
          <a:p>
            <a:pPr algn="r">
              <a:defRPr sz="900" b="1">
                <a:solidFill>
                  <a:srgbClr val="94A3B8"/>
                </a:solidFill>
              </a:defRPr>
            </a:pPr>
            <a:r>
              <a:t>Slide 02 / 13 ✦ KostKu</a:t>
            </a:r>
          </a:p>
        </p:txBody>
      </p:sp>
      <p:sp>
        <p:nvSpPr>
          <p:cNvPr id="6" name="TextBox 5"/>
          <p:cNvSpPr txBox="1"/>
          <p:nvPr/>
        </p:nvSpPr>
        <p:spPr>
          <a:xfrm>
            <a:off x="731520" y="749808"/>
            <a:ext cx="10698480" cy="868680"/>
          </a:xfrm>
          <a:prstGeom prst="rect">
            <a:avLst/>
          </a:prstGeom>
          <a:noFill/>
        </p:spPr>
        <p:txBody>
          <a:bodyPr wrap="square">
            <a:spAutoFit/>
          </a:bodyPr>
          <a:lstStyle/>
          <a:p>
            <a:pPr>
              <a:defRPr sz="2000" b="1">
                <a:solidFill>
                  <a:srgbClr val="312E81"/>
                </a:solidFill>
              </a:defRPr>
            </a:pPr>
            <a:r>
              <a:t>Market Friction: Reality Gap vs Operational Chaos</a:t>
            </a:r>
          </a:p>
          <a:p>
            <a:pPr>
              <a:defRPr sz="1050">
                <a:solidFill>
                  <a:srgbClr val="475569"/>
                </a:solidFill>
              </a:defRPr>
            </a:pPr>
            <a:r>
              <a:t>Dua pilar masalah utama yang menghambat efisiensi sewa indekos di Indonesia</a:t>
            </a:r>
          </a:p>
        </p:txBody>
      </p:sp>
      <p:sp>
        <p:nvSpPr>
          <p:cNvPr id="7" name="Rounded Rectangle 6"/>
          <p:cNvSpPr/>
          <p:nvPr/>
        </p:nvSpPr>
        <p:spPr>
          <a:xfrm>
            <a:off x="731520" y="1737360"/>
            <a:ext cx="5212080" cy="4480560"/>
          </a:xfrm>
          <a:prstGeom prst="roundRect">
            <a:avLst/>
          </a:prstGeom>
          <a:solidFill>
            <a:srgbClr val="FFF1F2"/>
          </a:solidFill>
          <a:ln w="19050">
            <a:solidFill>
              <a:srgbClr val="F472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E11D48"/>
                </a:solidFill>
              </a:defRPr>
            </a:pPr>
            <a:r>
              <a:t>👧 Sisi Pencari Kos (Anak Rantau)</a:t>
            </a:r>
          </a:p>
          <a:p>
            <a:pPr>
              <a:defRPr sz="1050" b="1">
                <a:solidFill>
                  <a:srgbClr val="312E81"/>
                </a:solidFill>
              </a:defRPr>
            </a:pPr>
            <a:r>
              <a:t>✦ 📷 Foto Lensa Wide-Angle Palsu</a:t>
            </a:r>
          </a:p>
          <a:p>
            <a:pPr>
              <a:defRPr sz="900">
                <a:solidFill>
                  <a:srgbClr val="475569"/>
                </a:solidFill>
              </a:defRPr>
            </a:pPr>
            <a:r>
              <a:t>   Kamar terlihat luas di foto iklan, tapi saat didatangi aslinya sempit &amp; pengap.</a:t>
            </a:r>
          </a:p>
          <a:p>
            <a:pPr>
              <a:defRPr sz="1050" b="1">
                <a:solidFill>
                  <a:srgbClr val="312E81"/>
                </a:solidFill>
              </a:defRPr>
            </a:pPr>
            <a:r>
              <a:t>✦ 📐 Skala Kamar Tidak Akurat</a:t>
            </a:r>
          </a:p>
          <a:p>
            <a:pPr>
              <a:defRPr sz="900">
                <a:solidFill>
                  <a:srgbClr val="475569"/>
                </a:solidFill>
              </a:defRPr>
            </a:pPr>
            <a:r>
              <a:t>   Tidak tahu apakah kasur springbed queen size (160x200) atau meja laptop muat.</a:t>
            </a:r>
          </a:p>
          <a:p>
            <a:pPr>
              <a:defRPr sz="1050" b="1">
                <a:solidFill>
                  <a:srgbClr val="312E81"/>
                </a:solidFill>
              </a:defRPr>
            </a:pPr>
            <a:r>
              <a:t>✦ 🚪 Buta Tata Letak &amp; Ventilasi</a:t>
            </a:r>
          </a:p>
          <a:p>
            <a:pPr>
              <a:defRPr sz="900">
                <a:solidFill>
                  <a:srgbClr val="475569"/>
                </a:solidFill>
              </a:defRPr>
            </a:pPr>
            <a:r>
              <a:t>   Tidak tahu posisi pasti kamar mandi dalam dan jendela arah sinar matahari.</a:t>
            </a:r>
          </a:p>
          <a:p>
            <a:pPr>
              <a:defRPr sz="1050" b="1">
                <a:solidFill>
                  <a:srgbClr val="312E81"/>
                </a:solidFill>
              </a:defRPr>
            </a:pPr>
            <a:r>
              <a:t>✦ 💸 Biaya &amp; Waktu Survei Habis</a:t>
            </a:r>
          </a:p>
          <a:p>
            <a:pPr>
              <a:defRPr sz="900">
                <a:solidFill>
                  <a:srgbClr val="475569"/>
                </a:solidFill>
              </a:defRPr>
            </a:pPr>
            <a:r>
              <a:t>   Macet, panas, dan keluar ongkos hanya untuk kecewa saat survei lokasi fisik.</a:t>
            </a:r>
          </a:p>
        </p:txBody>
      </p:sp>
      <p:sp>
        <p:nvSpPr>
          <p:cNvPr id="8" name="Rounded Rectangle 7"/>
          <p:cNvSpPr/>
          <p:nvPr/>
        </p:nvSpPr>
        <p:spPr>
          <a:xfrm>
            <a:off x="6217920" y="1737360"/>
            <a:ext cx="5212080" cy="4480560"/>
          </a:xfrm>
          <a:prstGeom prst="roundRect">
            <a:avLst/>
          </a:prstGeom>
          <a:solidFill>
            <a:srgbClr val="F5F3FF"/>
          </a:solidFill>
          <a:ln w="19050">
            <a:solidFill>
              <a:srgbClr val="C084F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7E22CE"/>
                </a:solidFill>
              </a:defRPr>
            </a:pPr>
            <a:r>
              <a:t>👵 Sisi Pemilik Kos (Pengelola)</a:t>
            </a:r>
          </a:p>
          <a:p>
            <a:pPr>
              <a:defRPr sz="1050" b="1">
                <a:solidFill>
                  <a:srgbClr val="312E81"/>
                </a:solidFill>
              </a:defRPr>
            </a:pPr>
            <a:r>
              <a:t>✦ 📒 Pembukuan Buku Tulis Usang</a:t>
            </a:r>
          </a:p>
          <a:p>
            <a:pPr>
              <a:defRPr sz="900">
                <a:solidFill>
                  <a:srgbClr val="475569"/>
                </a:solidFill>
              </a:defRPr>
            </a:pPr>
            <a:r>
              <a:t>   Catatan sewa manual di kertas mudah robek, hilang, atau terkena tumpahan kopi.</a:t>
            </a:r>
          </a:p>
          <a:p>
            <a:pPr>
              <a:defRPr sz="1050" b="1">
                <a:solidFill>
                  <a:srgbClr val="312E81"/>
                </a:solidFill>
              </a:defRPr>
            </a:pPr>
            <a:r>
              <a:t>✦ ⚡ Sengketa Listrik Meteran</a:t>
            </a:r>
          </a:p>
          <a:p>
            <a:pPr>
              <a:defRPr sz="900">
                <a:solidFill>
                  <a:srgbClr val="475569"/>
                </a:solidFill>
              </a:defRPr>
            </a:pPr>
            <a:r>
              <a:t>   Nombok tagihan listrik PLN karena telat mencatat angka meteran kWh anak kos.</a:t>
            </a:r>
          </a:p>
          <a:p>
            <a:pPr>
              <a:defRPr sz="1050" b="1">
                <a:solidFill>
                  <a:srgbClr val="312E81"/>
                </a:solidFill>
              </a:defRPr>
            </a:pPr>
            <a:r>
              <a:t>✦ 💬 Chat Komplain WA Tercecer</a:t>
            </a:r>
          </a:p>
          <a:p>
            <a:pPr>
              <a:defRPr sz="900">
                <a:solidFill>
                  <a:srgbClr val="475569"/>
                </a:solidFill>
              </a:defRPr>
            </a:pPr>
            <a:r>
              <a:t>   Kran bocor atau genteng rembes tenggelam di antara grup chat keluarga.</a:t>
            </a:r>
          </a:p>
          <a:p>
            <a:pPr>
              <a:defRPr sz="1050" b="1">
                <a:solidFill>
                  <a:srgbClr val="312E81"/>
                </a:solidFill>
              </a:defRPr>
            </a:pPr>
            <a:r>
              <a:t>✦ 🏷️ Komisi Aplikasi Pesaing Mencekik</a:t>
            </a:r>
          </a:p>
          <a:p>
            <a:pPr>
              <a:defRPr sz="900">
                <a:solidFill>
                  <a:srgbClr val="475569"/>
                </a:solidFill>
              </a:defRPr>
            </a:pPr>
            <a:r>
              <a:t>   Potongan 5% - 12% per transaksi membuat pemilik enggan memakai aplikasi.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E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472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20040"/>
            <a:ext cx="4114800" cy="384048"/>
          </a:xfrm>
          <a:prstGeom prst="roundRect">
            <a:avLst/>
          </a:prstGeom>
          <a:solidFill>
            <a:srgbClr val="FFE4E6"/>
          </a:solidFill>
          <a:ln w="12700">
            <a:solidFill>
              <a:srgbClr val="F472B6"/>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E11D48"/>
                </a:solidFill>
              </a:defRPr>
            </a:pPr>
            <a:r>
              <a:t>🎀 THE KILLER FEATURE</a:t>
            </a:r>
          </a:p>
        </p:txBody>
      </p:sp>
      <p:sp>
        <p:nvSpPr>
          <p:cNvPr id="5" name="TextBox 4"/>
          <p:cNvSpPr txBox="1"/>
          <p:nvPr/>
        </p:nvSpPr>
        <p:spPr>
          <a:xfrm>
            <a:off x="9326880" y="320040"/>
            <a:ext cx="2103120" cy="365760"/>
          </a:xfrm>
          <a:prstGeom prst="rect">
            <a:avLst/>
          </a:prstGeom>
          <a:noFill/>
        </p:spPr>
        <p:txBody>
          <a:bodyPr wrap="none">
            <a:spAutoFit/>
          </a:bodyPr>
          <a:lstStyle/>
          <a:p>
            <a:pPr algn="r">
              <a:defRPr sz="900" b="1">
                <a:solidFill>
                  <a:srgbClr val="94A3B8"/>
                </a:solidFill>
              </a:defRPr>
            </a:pPr>
            <a:r>
              <a:t>Slide 03 / 13 ✦ KostKu</a:t>
            </a:r>
          </a:p>
        </p:txBody>
      </p:sp>
      <p:sp>
        <p:nvSpPr>
          <p:cNvPr id="6" name="TextBox 5"/>
          <p:cNvSpPr txBox="1"/>
          <p:nvPr/>
        </p:nvSpPr>
        <p:spPr>
          <a:xfrm>
            <a:off x="731520" y="749808"/>
            <a:ext cx="10698480" cy="868680"/>
          </a:xfrm>
          <a:prstGeom prst="rect">
            <a:avLst/>
          </a:prstGeom>
          <a:noFill/>
        </p:spPr>
        <p:txBody>
          <a:bodyPr wrap="square">
            <a:spAutoFit/>
          </a:bodyPr>
          <a:lstStyle/>
          <a:p>
            <a:pPr>
              <a:defRPr sz="2000" b="1">
                <a:solidFill>
                  <a:srgbClr val="312E81"/>
                </a:solidFill>
              </a:defRPr>
            </a:pPr>
            <a:r>
              <a:t>Architectural 2D Blueprint Engine (Vektor SVG)</a:t>
            </a:r>
          </a:p>
          <a:p>
            <a:pPr>
              <a:defRPr sz="1050">
                <a:solidFill>
                  <a:srgbClr val="475569"/>
                </a:solidFill>
              </a:defRPr>
            </a:pPr>
            <a:r>
              <a:t>Solusi transparansi visual presisi skala 1:50 tanpa beban data berat foto 360</a:t>
            </a:r>
          </a:p>
        </p:txBody>
      </p:sp>
      <p:sp>
        <p:nvSpPr>
          <p:cNvPr id="7" name="Rounded Rectangle 6"/>
          <p:cNvSpPr/>
          <p:nvPr/>
        </p:nvSpPr>
        <p:spPr>
          <a:xfrm>
            <a:off x="731520" y="1737360"/>
            <a:ext cx="5029200" cy="4480560"/>
          </a:xfrm>
          <a:prstGeom prst="roundRect">
            <a:avLst/>
          </a:prstGeom>
          <a:solidFill>
            <a:srgbClr val="FFFFFF"/>
          </a:solidFill>
          <a:ln w="19050">
            <a:solidFill>
              <a:srgbClr val="F472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E11D48"/>
                </a:solidFill>
              </a:defRPr>
            </a:pPr>
            <a:r>
              <a:t>✨ Kenapa Vektor SVG Skala 1:50?</a:t>
            </a:r>
          </a:p>
          <a:p>
            <a:pPr>
              <a:defRPr sz="1000" b="1">
                <a:solidFill>
                  <a:srgbClr val="312E81"/>
                </a:solidFill>
              </a:defRPr>
            </a:pPr>
            <a:r>
              <a:t>✦ Ukuran Super Ringan (&lt;15 KB)</a:t>
            </a:r>
          </a:p>
          <a:p>
            <a:pPr>
              <a:defRPr sz="850">
                <a:solidFill>
                  <a:srgbClr val="475569"/>
                </a:solidFill>
              </a:defRPr>
            </a:pPr>
            <a:r>
              <a:t>   Tidak membebani kuota data. Bisa dibuka sekejap bahkan di jaringan 3G.</a:t>
            </a:r>
          </a:p>
          <a:p>
            <a:pPr>
              <a:defRPr sz="1000" b="1">
                <a:solidFill>
                  <a:srgbClr val="312E81"/>
                </a:solidFill>
              </a:defRPr>
            </a:pPr>
            <a:r>
              <a:t>✦ Skala Arsitektur Nyata (1:50)</a:t>
            </a:r>
          </a:p>
          <a:p>
            <a:pPr>
              <a:defRPr sz="850">
                <a:solidFill>
                  <a:srgbClr val="475569"/>
                </a:solidFill>
              </a:defRPr>
            </a:pPr>
            <a:r>
              <a:t>   Menggambarkan proporsi kasur queen (160x200), meja laptop, dan lemari 2 pintu.</a:t>
            </a:r>
          </a:p>
          <a:p>
            <a:pPr>
              <a:defRPr sz="1000" b="1">
                <a:solidFill>
                  <a:srgbClr val="312E81"/>
                </a:solidFill>
              </a:defRPr>
            </a:pPr>
            <a:r>
              <a:t>✦ Orientasi Sinar Matahari &amp; Jendela</a:t>
            </a:r>
          </a:p>
          <a:p>
            <a:pPr>
              <a:defRPr sz="850">
                <a:solidFill>
                  <a:srgbClr val="475569"/>
                </a:solidFill>
              </a:defRPr>
            </a:pPr>
            <a:r>
              <a:t>   Menunjukkan arah berkas cahaya alami dan ventilasi udara kamar.</a:t>
            </a:r>
          </a:p>
          <a:p>
            <a:pPr>
              <a:defRPr sz="1000" b="1">
                <a:solidFill>
                  <a:srgbClr val="312E81"/>
                </a:solidFill>
              </a:defRPr>
            </a:pPr>
            <a:r>
              <a:t>✦ Indikator Status Warna Dinamis</a:t>
            </a:r>
          </a:p>
          <a:p>
            <a:pPr>
              <a:defRPr sz="850">
                <a:solidFill>
                  <a:srgbClr val="475569"/>
                </a:solidFill>
              </a:defRPr>
            </a:pPr>
            <a:r>
              <a:t>   Hijau = Kamar Kosong, Merah = Terisi, Kuning = Sedang Perbaikan.</a:t>
            </a:r>
          </a:p>
          <a:p>
            <a:pPr>
              <a:defRPr sz="1000" b="1">
                <a:solidFill>
                  <a:srgbClr val="312E81"/>
                </a:solidFill>
              </a:defRPr>
            </a:pPr>
            <a:r>
              <a:t>✦ Interaktivitas Hover &amp; Tooltip</a:t>
            </a:r>
          </a:p>
          <a:p>
            <a:pPr>
              <a:defRPr sz="850">
                <a:solidFill>
                  <a:srgbClr val="475569"/>
                </a:solidFill>
              </a:defRPr>
            </a:pPr>
            <a:r>
              <a:t>   Ketuk objek perabot untuk melihat spesifikasi detail dan ukuran real.</a:t>
            </a:r>
          </a:p>
        </p:txBody>
      </p:sp>
      <p:sp>
        <p:nvSpPr>
          <p:cNvPr id="8" name="Rounded Rectangle 7"/>
          <p:cNvSpPr/>
          <p:nvPr/>
        </p:nvSpPr>
        <p:spPr>
          <a:xfrm>
            <a:off x="6035040" y="1737360"/>
            <a:ext cx="5394960" cy="4480560"/>
          </a:xfrm>
          <a:prstGeom prst="roundRect">
            <a:avLst/>
          </a:prstGeom>
          <a:solidFill>
            <a:srgbClr val="0F172A"/>
          </a:solidFill>
          <a:ln w="254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93C5FD"/>
                </a:solidFill>
              </a:defRPr>
            </a:pPr>
            <a:r>
              <a:t>📐 DENAH ARSITEKTURAL KAMAR (SKALA 1:50 ARCH)</a:t>
            </a:r>
          </a:p>
          <a:p>
            <a:pPr>
              <a:defRPr sz="850">
                <a:solidFill>
                  <a:srgbClr val="CBD5E1"/>
                </a:solidFill>
              </a:defRPr>
            </a:pPr>
            <a:r>
              <a:t>Dimensi: 4.0m x 4.5m (Luas: 18 m²) ✦ Model Vektor SVG</a:t>
            </a:r>
          </a:p>
          <a:p>
            <a:pPr>
              <a:defRPr sz="900">
                <a:solidFill>
                  <a:srgbClr val="F1F5F9"/>
                </a:solidFill>
              </a:defRPr>
            </a:pPr>
            <a:r>
              <a:t>• 🛏️ Kasur Springbed Queen (160 x 200 cm) — Center Right</a:t>
            </a:r>
          </a:p>
          <a:p>
            <a:pPr>
              <a:defRPr sz="900">
                <a:solidFill>
                  <a:srgbClr val="F1F5F9"/>
                </a:solidFill>
              </a:defRPr>
            </a:pPr>
            <a:r>
              <a:t>• 💻 Meja Belajar &amp; Kursi Kerja Ergonomis — Top Left</a:t>
            </a:r>
          </a:p>
          <a:p>
            <a:pPr>
              <a:defRPr sz="900">
                <a:solidFill>
                  <a:srgbClr val="F1F5F9"/>
                </a:solidFill>
              </a:defRPr>
            </a:pPr>
            <a:r>
              <a:t>• 🚿 Kamar Mandi Dalam (Shower &amp; Kloset Duduk) — Left</a:t>
            </a:r>
          </a:p>
          <a:p>
            <a:pPr>
              <a:defRPr sz="900">
                <a:solidFill>
                  <a:srgbClr val="F1F5F9"/>
                </a:solidFill>
              </a:defRPr>
            </a:pPr>
            <a:r>
              <a:t>• ☀️ Jendela Luar (Arah Masuk Cahaya &amp; Angin) — Top Right</a:t>
            </a:r>
          </a:p>
          <a:p>
            <a:pPr>
              <a:defRPr sz="900">
                <a:solidFill>
                  <a:srgbClr val="F1F5F9"/>
                </a:solidFill>
              </a:defRPr>
            </a:pPr>
            <a:r>
              <a:t>• 🚪 Pintu Masuk dengan Busur Ayun (Door Swing Arc) — Bottom Left</a:t>
            </a:r>
          </a:p>
          <a:p>
            <a:pPr>
              <a:defRPr sz="900">
                <a:solidFill>
                  <a:srgbClr val="F1F5F9"/>
                </a:solidFill>
              </a:defRPr>
            </a:pPr>
            <a:r>
              <a:t>• 🔌 Colokan Listrik &amp; Sakelar di Samping Meja &amp; Kasur</a:t>
            </a:r>
          </a:p>
          <a:p>
            <a:br/>
            <a:pPr>
              <a:defRPr sz="850" b="1">
                <a:solidFill>
                  <a:srgbClr val="34D399"/>
                </a:solidFill>
              </a:defRPr>
            </a:pPr>
            <a:r>
              <a:t>💡 Status Kamar di Back-Office langsung merefleksikan warna denah secara real-time!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E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472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20040"/>
            <a:ext cx="4114800" cy="384048"/>
          </a:xfrm>
          <a:prstGeom prst="roundRect">
            <a:avLst/>
          </a:prstGeom>
          <a:solidFill>
            <a:srgbClr val="FFE4E6"/>
          </a:solidFill>
          <a:ln w="12700">
            <a:solidFill>
              <a:srgbClr val="F472B6"/>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E11D48"/>
                </a:solidFill>
              </a:defRPr>
            </a:pPr>
            <a:r>
              <a:t>⚡ OTOMATISASI OPERASIONAL</a:t>
            </a:r>
          </a:p>
        </p:txBody>
      </p:sp>
      <p:sp>
        <p:nvSpPr>
          <p:cNvPr id="5" name="TextBox 4"/>
          <p:cNvSpPr txBox="1"/>
          <p:nvPr/>
        </p:nvSpPr>
        <p:spPr>
          <a:xfrm>
            <a:off x="9326880" y="320040"/>
            <a:ext cx="2103120" cy="365760"/>
          </a:xfrm>
          <a:prstGeom prst="rect">
            <a:avLst/>
          </a:prstGeom>
          <a:noFill/>
        </p:spPr>
        <p:txBody>
          <a:bodyPr wrap="none">
            <a:spAutoFit/>
          </a:bodyPr>
          <a:lstStyle/>
          <a:p>
            <a:pPr algn="r">
              <a:defRPr sz="900" b="1">
                <a:solidFill>
                  <a:srgbClr val="94A3B8"/>
                </a:solidFill>
              </a:defRPr>
            </a:pPr>
            <a:r>
              <a:t>Slide 04 / 13 ✦ KostKu</a:t>
            </a:r>
          </a:p>
        </p:txBody>
      </p:sp>
      <p:sp>
        <p:nvSpPr>
          <p:cNvPr id="6" name="TextBox 5"/>
          <p:cNvSpPr txBox="1"/>
          <p:nvPr/>
        </p:nvSpPr>
        <p:spPr>
          <a:xfrm>
            <a:off x="731520" y="749808"/>
            <a:ext cx="10698480" cy="868680"/>
          </a:xfrm>
          <a:prstGeom prst="rect">
            <a:avLst/>
          </a:prstGeom>
          <a:noFill/>
        </p:spPr>
        <p:txBody>
          <a:bodyPr wrap="square">
            <a:spAutoFit/>
          </a:bodyPr>
          <a:lstStyle/>
          <a:p>
            <a:pPr>
              <a:defRPr sz="2000" b="1">
                <a:solidFill>
                  <a:srgbClr val="312E81"/>
                </a:solidFill>
              </a:defRPr>
            </a:pPr>
            <a:r>
              <a:t>Automated Utility &amp; WhatsApp Billing Engine</a:t>
            </a:r>
          </a:p>
          <a:p>
            <a:pPr>
              <a:defRPr sz="1050">
                <a:solidFill>
                  <a:srgbClr val="475569"/>
                </a:solidFill>
              </a:defRPr>
            </a:pPr>
            <a:r>
              <a:t>Kalkulasi matematis pemakaian listrik &amp; air + pengiriman kwitansi 1-klik ke WhatsApp</a:t>
            </a:r>
          </a:p>
        </p:txBody>
      </p:sp>
      <p:sp>
        <p:nvSpPr>
          <p:cNvPr id="7" name="Rounded Rectangle 6"/>
          <p:cNvSpPr/>
          <p:nvPr/>
        </p:nvSpPr>
        <p:spPr>
          <a:xfrm>
            <a:off x="731520" y="1737360"/>
            <a:ext cx="5303520" cy="4480560"/>
          </a:xfrm>
          <a:prstGeom prst="roundRect">
            <a:avLst/>
          </a:prstGeom>
          <a:solidFill>
            <a:srgbClr val="EEF2FF"/>
          </a:solidFill>
          <a:ln w="19050">
            <a:solidFill>
              <a:srgbClr val="C084F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4338CA"/>
                </a:solidFill>
              </a:defRPr>
            </a:pPr>
            <a:r>
              <a:t>🧮 Formula Perhitungan Utilitas</a:t>
            </a:r>
          </a:p>
          <a:p>
            <a:pPr>
              <a:defRPr sz="950" b="1">
                <a:solidFill>
                  <a:srgbClr val="312E81"/>
                </a:solidFill>
              </a:defRPr>
            </a:pPr>
            <a:r>
              <a:t>1. Selisih Pemakaian kWh Listrik:</a:t>
            </a:r>
          </a:p>
          <a:p>
            <a:pPr>
              <a:defRPr sz="900">
                <a:solidFill>
                  <a:srgbClr val="4F46E5"/>
                </a:solidFill>
              </a:defRPr>
            </a:pPr>
            <a:r>
              <a:t>  kWh_Pakai = Max(0, Meteran_Akhir - Meteran_Awal)</a:t>
            </a:r>
          </a:p>
          <a:p>
            <a:pPr>
              <a:defRPr sz="950" b="1">
                <a:solidFill>
                  <a:srgbClr val="312E81"/>
                </a:solidFill>
              </a:defRPr>
            </a:pPr>
            <a:r>
              <a:t>2. Biaya Variabel Listrik:</a:t>
            </a:r>
          </a:p>
          <a:p>
            <a:pPr>
              <a:defRPr sz="900">
                <a:solidFill>
                  <a:srgbClr val="4F46E5"/>
                </a:solidFill>
              </a:defRPr>
            </a:pPr>
            <a:r>
              <a:t>  Biaya_Listrik = kWh_Pakai × Tarif_Listrik_per_kWh</a:t>
            </a:r>
          </a:p>
          <a:p>
            <a:pPr>
              <a:defRPr sz="950" b="1">
                <a:solidFill>
                  <a:srgbClr val="312E81"/>
                </a:solidFill>
              </a:defRPr>
            </a:pPr>
            <a:r>
              <a:t>3. Biaya Variabel Air (m³):</a:t>
            </a:r>
          </a:p>
          <a:p>
            <a:pPr>
              <a:defRPr sz="900">
                <a:solidFill>
                  <a:srgbClr val="4F46E5"/>
                </a:solidFill>
              </a:defRPr>
            </a:pPr>
            <a:r>
              <a:t>  Biaya_Air = m3_Pakai × Tarif_Air_per_m3</a:t>
            </a:r>
          </a:p>
          <a:p>
            <a:pPr>
              <a:defRPr sz="950" b="1">
                <a:solidFill>
                  <a:srgbClr val="312E81"/>
                </a:solidFill>
              </a:defRPr>
            </a:pPr>
            <a:r>
              <a:t>4. Akumulasi Total Invoice:</a:t>
            </a:r>
          </a:p>
          <a:p>
            <a:pPr>
              <a:defRPr sz="900">
                <a:solidFill>
                  <a:srgbClr val="4F46E5"/>
                </a:solidFill>
              </a:defRPr>
            </a:pPr>
            <a:r>
              <a:t>  Total = Sewa_Pokok + Biaya_Listrik + Biaya_Air + Denda</a:t>
            </a:r>
          </a:p>
          <a:p>
            <a:pPr>
              <a:defRPr sz="950" b="1">
                <a:solidFill>
                  <a:srgbClr val="312E81"/>
                </a:solidFill>
              </a:defRPr>
            </a:pPr>
            <a:r>
              <a:t>5. Pembuatan Nomor Referensi Unik:</a:t>
            </a:r>
          </a:p>
          <a:p>
            <a:pPr>
              <a:defRPr sz="900">
                <a:solidFill>
                  <a:srgbClr val="4F46E5"/>
                </a:solidFill>
              </a:defRPr>
            </a:pPr>
            <a:r>
              <a:t>  Format INV-{TIMESTAMP}-{NOMOR_KAMAR}</a:t>
            </a:r>
          </a:p>
        </p:txBody>
      </p:sp>
      <p:sp>
        <p:nvSpPr>
          <p:cNvPr id="8" name="Rounded Rectangle 7"/>
          <p:cNvSpPr/>
          <p:nvPr/>
        </p:nvSpPr>
        <p:spPr>
          <a:xfrm>
            <a:off x="6309360" y="1737360"/>
            <a:ext cx="5120640" cy="4480560"/>
          </a:xfrm>
          <a:prstGeom prst="roundRect">
            <a:avLst/>
          </a:prstGeom>
          <a:solidFill>
            <a:srgbClr val="ECFDF5"/>
          </a:solidFill>
          <a:ln w="19050">
            <a:solidFill>
              <a:srgbClr val="6EE7B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047857"/>
                </a:solidFill>
              </a:defRPr>
            </a:pPr>
            <a:r>
              <a:t>📲 1-Click WhatsApp Deep-Link Dispatcher</a:t>
            </a:r>
          </a:p>
          <a:p>
            <a:pPr>
              <a:defRPr sz="900">
                <a:solidFill>
                  <a:srgbClr val="475569"/>
                </a:solidFill>
              </a:defRPr>
            </a:pPr>
            <a:r>
              <a:t>Sistem secara otomatis merangkai URL wa.me dengan rincian pesan terenkripsi:</a:t>
            </a:r>
            <a:br/>
          </a:p>
          <a:p>
            <a:pPr>
              <a:defRPr sz="850">
                <a:solidFill>
                  <a:srgbClr val="064E3B"/>
                </a:solidFill>
              </a:defRPr>
            </a:pPr>
            <a:r>
              <a:t>Halo Kak Arya (Kamar 102), berikut rincian sewa bulan ini:</a:t>
            </a:r>
          </a:p>
          <a:p>
            <a:pPr>
              <a:defRPr sz="850">
                <a:solidFill>
                  <a:srgbClr val="064E3B"/>
                </a:solidFill>
              </a:defRPr>
            </a:pPr>
            <a:r>
              <a:t>• Sewa Pokok: Rp 1.500.000</a:t>
            </a:r>
          </a:p>
          <a:p>
            <a:pPr>
              <a:defRPr sz="850">
                <a:solidFill>
                  <a:srgbClr val="064E3B"/>
                </a:solidFill>
              </a:defRPr>
            </a:pPr>
            <a:r>
              <a:t>• Listrik (142 - 100 = 42 kWh @Rp 2.000): Rp 84.000</a:t>
            </a:r>
          </a:p>
          <a:p>
            <a:pPr>
              <a:defRPr sz="850">
                <a:solidFill>
                  <a:srgbClr val="064E3B"/>
                </a:solidFill>
              </a:defRPr>
            </a:pPr>
            <a:r>
              <a:t>• Air &amp; Sampah: Rp 35.000</a:t>
            </a:r>
          </a:p>
          <a:p>
            <a:pPr>
              <a:defRPr sz="850">
                <a:solidFill>
                  <a:srgbClr val="064E3B"/>
                </a:solidFill>
              </a:defRPr>
            </a:pPr>
            <a:r>
              <a:t>------------------------------------</a:t>
            </a:r>
          </a:p>
          <a:p>
            <a:pPr>
              <a:defRPr sz="850">
                <a:solidFill>
                  <a:srgbClr val="064E3B"/>
                </a:solidFill>
              </a:defRPr>
            </a:pPr>
            <a:r>
              <a:t>👉 TOTAL TAGIHAN: Rp 1.619.000</a:t>
            </a:r>
          </a:p>
          <a:p>
            <a:pPr>
              <a:defRPr sz="850">
                <a:solidFill>
                  <a:srgbClr val="064E3B"/>
                </a:solidFill>
              </a:defRPr>
            </a:pPr>
            <a:r>
              <a:t>Status: Menunggu Pembayaran. Terima kasih!</a:t>
            </a:r>
          </a:p>
          <a:p>
            <a:br/>
            <a:pPr>
              <a:defRPr sz="850" b="1">
                <a:solidFill>
                  <a:srgbClr val="059669"/>
                </a:solidFill>
              </a:defRPr>
            </a:pPr>
            <a:r>
              <a:t>✅ Pengelola tidak perlu mengetik ulang! Transparansi 100% mencegah perselisihan nominal.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E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472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20040"/>
            <a:ext cx="4114800" cy="384048"/>
          </a:xfrm>
          <a:prstGeom prst="roundRect">
            <a:avLst/>
          </a:prstGeom>
          <a:solidFill>
            <a:srgbClr val="FFE4E6"/>
          </a:solidFill>
          <a:ln w="12700">
            <a:solidFill>
              <a:srgbClr val="F472B6"/>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E11D48"/>
                </a:solidFill>
              </a:defRPr>
            </a:pPr>
            <a:r>
              <a:t>💻 ARSITEKTUR SISTEM RPL</a:t>
            </a:r>
          </a:p>
        </p:txBody>
      </p:sp>
      <p:sp>
        <p:nvSpPr>
          <p:cNvPr id="5" name="TextBox 4"/>
          <p:cNvSpPr txBox="1"/>
          <p:nvPr/>
        </p:nvSpPr>
        <p:spPr>
          <a:xfrm>
            <a:off x="9326880" y="320040"/>
            <a:ext cx="2103120" cy="365760"/>
          </a:xfrm>
          <a:prstGeom prst="rect">
            <a:avLst/>
          </a:prstGeom>
          <a:noFill/>
        </p:spPr>
        <p:txBody>
          <a:bodyPr wrap="none">
            <a:spAutoFit/>
          </a:bodyPr>
          <a:lstStyle/>
          <a:p>
            <a:pPr algn="r">
              <a:defRPr sz="900" b="1">
                <a:solidFill>
                  <a:srgbClr val="94A3B8"/>
                </a:solidFill>
              </a:defRPr>
            </a:pPr>
            <a:r>
              <a:t>Slide 05 / 13 ✦ KostKu</a:t>
            </a:r>
          </a:p>
        </p:txBody>
      </p:sp>
      <p:sp>
        <p:nvSpPr>
          <p:cNvPr id="6" name="TextBox 5"/>
          <p:cNvSpPr txBox="1"/>
          <p:nvPr/>
        </p:nvSpPr>
        <p:spPr>
          <a:xfrm>
            <a:off x="731520" y="749808"/>
            <a:ext cx="10698480" cy="868680"/>
          </a:xfrm>
          <a:prstGeom prst="rect">
            <a:avLst/>
          </a:prstGeom>
          <a:noFill/>
        </p:spPr>
        <p:txBody>
          <a:bodyPr wrap="square">
            <a:spAutoFit/>
          </a:bodyPr>
          <a:lstStyle/>
          <a:p>
            <a:pPr>
              <a:defRPr sz="2000" b="1">
                <a:solidFill>
                  <a:srgbClr val="312E81"/>
                </a:solidFill>
              </a:defRPr>
            </a:pPr>
            <a:r>
              <a:t>Hybrid Local-First &amp; Cross-Platform Architecture</a:t>
            </a:r>
          </a:p>
          <a:p>
            <a:pPr>
              <a:defRPr sz="1050">
                <a:solidFill>
                  <a:srgbClr val="475569"/>
                </a:solidFill>
              </a:defRPr>
            </a:pPr>
            <a:r>
              <a:t>Kombinasi ketahanan offline, kecepatan lokal, dan sinkronisasi cloud</a:t>
            </a:r>
          </a:p>
        </p:txBody>
      </p:sp>
      <p:sp>
        <p:nvSpPr>
          <p:cNvPr id="7" name="Rounded Rectangle 6"/>
          <p:cNvSpPr/>
          <p:nvPr/>
        </p:nvSpPr>
        <p:spPr>
          <a:xfrm>
            <a:off x="731520" y="1737360"/>
            <a:ext cx="10728655" cy="1325880"/>
          </a:xfrm>
          <a:prstGeom prst="roundRect">
            <a:avLst/>
          </a:prstGeom>
          <a:solidFill>
            <a:srgbClr val="FEF2F2"/>
          </a:solidFill>
          <a:ln w="19050">
            <a:solidFill>
              <a:srgbClr val="F472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312E81"/>
                </a:solidFill>
              </a:defRPr>
            </a:pPr>
            <a:r>
              <a:t>Layer 1: Multi-Platform Clients</a:t>
            </a:r>
          </a:p>
          <a:p>
            <a:pPr>
              <a:defRPr sz="950">
                <a:solidFill>
                  <a:srgbClr val="475569"/>
                </a:solidFill>
              </a:defRPr>
            </a:pPr>
            <a:r>
              <a:t>📱 Android APK (Capacitor) • 💻 Desktop Windows (Electron) • 🌐 Web PWA (Vite React 18)</a:t>
            </a:r>
            <a:br/>
            <a:r>
              <a:t>Satu basis kode terpadu untuk tiga platform runtime sekaligus.</a:t>
            </a:r>
          </a:p>
        </p:txBody>
      </p:sp>
      <p:sp>
        <p:nvSpPr>
          <p:cNvPr id="8" name="Rounded Rectangle 7"/>
          <p:cNvSpPr/>
          <p:nvPr/>
        </p:nvSpPr>
        <p:spPr>
          <a:xfrm>
            <a:off x="731520" y="3246120"/>
            <a:ext cx="10728655" cy="1325880"/>
          </a:xfrm>
          <a:prstGeom prst="roundRect">
            <a:avLst/>
          </a:prstGeom>
          <a:solidFill>
            <a:srgbClr val="F5F3FF"/>
          </a:solidFill>
          <a:ln w="19050">
            <a:solidFill>
              <a:srgbClr val="C084F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312E81"/>
                </a:solidFill>
              </a:defRPr>
            </a:pPr>
            <a:r>
              <a:t>Layer 2: Local Processing Engine</a:t>
            </a:r>
          </a:p>
          <a:p>
            <a:pPr>
              <a:defRPr sz="950">
                <a:solidFill>
                  <a:srgbClr val="475569"/>
                </a:solidFill>
              </a:defRPr>
            </a:pPr>
            <a:r>
              <a:t>⚡ React UI State • In-Memory Cache • Embedded SQLite / Local JSON Database</a:t>
            </a:r>
            <a:br/>
            <a:r>
              <a:t>Menjamin Zero-Offline Latency. Transaksi dan input kamar tetap berjalan lancar tanpa kuota internet.</a:t>
            </a:r>
          </a:p>
        </p:txBody>
      </p:sp>
      <p:sp>
        <p:nvSpPr>
          <p:cNvPr id="9" name="Rounded Rectangle 8"/>
          <p:cNvSpPr/>
          <p:nvPr/>
        </p:nvSpPr>
        <p:spPr>
          <a:xfrm>
            <a:off x="731520" y="4754879"/>
            <a:ext cx="10728655" cy="1325880"/>
          </a:xfrm>
          <a:prstGeom prst="roundRect">
            <a:avLst/>
          </a:prstGeom>
          <a:solidFill>
            <a:srgbClr val="ECFDF5"/>
          </a:solidFill>
          <a:ln w="19050">
            <a:solidFill>
              <a:srgbClr val="6EE7B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312E81"/>
                </a:solidFill>
              </a:defRPr>
            </a:pPr>
            <a:r>
              <a:t>Layer 3: Cloud Backend &amp; Sync</a:t>
            </a:r>
          </a:p>
          <a:p>
            <a:pPr>
              <a:defRPr sz="950">
                <a:solidFill>
                  <a:srgbClr val="475569"/>
                </a:solidFill>
              </a:defRPr>
            </a:pPr>
            <a:r>
              <a:t>☁️ Node.js Express REST API • Supabase Cloud PostgreSQL • Google OAuth 2.0</a:t>
            </a:r>
            <a:br/>
            <a:r>
              <a:t>Sinkronisasi asinkron saat online dan manajemen autentikasi terpusat.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E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472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20040"/>
            <a:ext cx="4114800" cy="384048"/>
          </a:xfrm>
          <a:prstGeom prst="roundRect">
            <a:avLst/>
          </a:prstGeom>
          <a:solidFill>
            <a:srgbClr val="FFE4E6"/>
          </a:solidFill>
          <a:ln w="12700">
            <a:solidFill>
              <a:srgbClr val="F472B6"/>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E11D48"/>
                </a:solidFill>
              </a:defRPr>
            </a:pPr>
            <a:r>
              <a:t>🗺️ ALUR PENGGUNA</a:t>
            </a:r>
          </a:p>
        </p:txBody>
      </p:sp>
      <p:sp>
        <p:nvSpPr>
          <p:cNvPr id="5" name="TextBox 4"/>
          <p:cNvSpPr txBox="1"/>
          <p:nvPr/>
        </p:nvSpPr>
        <p:spPr>
          <a:xfrm>
            <a:off x="9326880" y="320040"/>
            <a:ext cx="2103120" cy="365760"/>
          </a:xfrm>
          <a:prstGeom prst="rect">
            <a:avLst/>
          </a:prstGeom>
          <a:noFill/>
        </p:spPr>
        <p:txBody>
          <a:bodyPr wrap="none">
            <a:spAutoFit/>
          </a:bodyPr>
          <a:lstStyle/>
          <a:p>
            <a:pPr algn="r">
              <a:defRPr sz="900" b="1">
                <a:solidFill>
                  <a:srgbClr val="94A3B8"/>
                </a:solidFill>
              </a:defRPr>
            </a:pPr>
            <a:r>
              <a:t>Slide 06 / 13 ✦ KostKu</a:t>
            </a:r>
          </a:p>
        </p:txBody>
      </p:sp>
      <p:sp>
        <p:nvSpPr>
          <p:cNvPr id="6" name="TextBox 5"/>
          <p:cNvSpPr txBox="1"/>
          <p:nvPr/>
        </p:nvSpPr>
        <p:spPr>
          <a:xfrm>
            <a:off x="731520" y="749808"/>
            <a:ext cx="10698480" cy="868680"/>
          </a:xfrm>
          <a:prstGeom prst="rect">
            <a:avLst/>
          </a:prstGeom>
          <a:noFill/>
        </p:spPr>
        <p:txBody>
          <a:bodyPr wrap="square">
            <a:spAutoFit/>
          </a:bodyPr>
          <a:lstStyle/>
          <a:p>
            <a:pPr>
              <a:defRPr sz="2000" b="1">
                <a:solidFill>
                  <a:srgbClr val="312E81"/>
                </a:solidFill>
              </a:defRPr>
            </a:pPr>
            <a:r>
              <a:t>Dual-Sided Unified User Journey</a:t>
            </a:r>
          </a:p>
          <a:p>
            <a:pPr>
              <a:defRPr sz="1050">
                <a:solidFill>
                  <a:srgbClr val="475569"/>
                </a:solidFill>
              </a:defRPr>
            </a:pPr>
            <a:r>
              <a:t>Dua alur kerja berbeda namun saling terintegrasi erat dalam satu ekosistem</a:t>
            </a:r>
          </a:p>
        </p:txBody>
      </p:sp>
      <p:sp>
        <p:nvSpPr>
          <p:cNvPr id="7" name="Rounded Rectangle 6"/>
          <p:cNvSpPr/>
          <p:nvPr/>
        </p:nvSpPr>
        <p:spPr>
          <a:xfrm>
            <a:off x="731520" y="1737360"/>
            <a:ext cx="10728655" cy="2103120"/>
          </a:xfrm>
          <a:prstGeom prst="roundRect">
            <a:avLst/>
          </a:prstGeom>
          <a:solidFill>
            <a:srgbClr val="FEF2F2"/>
          </a:solidFill>
          <a:ln w="19050">
            <a:solidFill>
              <a:srgbClr val="F472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E11D48"/>
                </a:solidFill>
              </a:defRPr>
            </a:pPr>
            <a:r>
              <a:t>🌸 Public Flow (Pencari Kos) — Zero Registration Barrier</a:t>
            </a:r>
          </a:p>
          <a:p>
            <a:pPr>
              <a:defRPr sz="950">
                <a:solidFill>
                  <a:srgbClr val="475569"/>
                </a:solidFill>
              </a:defRPr>
            </a:pPr>
            <a:r>
              <a:t>✦ 1. Buka Marketplace ➔ Jelajahi listing kos tanpa wajib registrasi akun</a:t>
            </a:r>
          </a:p>
          <a:p>
            <a:pPr>
              <a:defRPr sz="950">
                <a:solidFill>
                  <a:srgbClr val="475569"/>
                </a:solidFill>
              </a:defRPr>
            </a:pPr>
            <a:r>
              <a:t>✦ 2. Filter Cepat ➔ Pilih kota, kategori gender (Putri/Putra/Campur), dan rentang harga</a:t>
            </a:r>
          </a:p>
          <a:p>
            <a:pPr>
              <a:defRPr sz="950">
                <a:solidFill>
                  <a:srgbClr val="475569"/>
                </a:solidFill>
              </a:defRPr>
            </a:pPr>
            <a:r>
              <a:t>✦ 3. Live 2D Blueprint ➔ Ketuk denah untuk verifikasi ukuran kasur, jendela, dan kamar mandi</a:t>
            </a:r>
          </a:p>
          <a:p>
            <a:pPr>
              <a:defRPr sz="950">
                <a:solidFill>
                  <a:srgbClr val="475569"/>
                </a:solidFill>
              </a:defRPr>
            </a:pPr>
            <a:r>
              <a:t>✦ 4. Direct Action ➔ Klik 'Ajukan Sewa' atau langsung chat WhatsApp pemilik untuk survei</a:t>
            </a:r>
          </a:p>
        </p:txBody>
      </p:sp>
      <p:sp>
        <p:nvSpPr>
          <p:cNvPr id="8" name="Rounded Rectangle 7"/>
          <p:cNvSpPr/>
          <p:nvPr/>
        </p:nvSpPr>
        <p:spPr>
          <a:xfrm>
            <a:off x="731520" y="4069080"/>
            <a:ext cx="10728655" cy="2103120"/>
          </a:xfrm>
          <a:prstGeom prst="roundRect">
            <a:avLst/>
          </a:prstGeom>
          <a:solidFill>
            <a:srgbClr val="F5F3FF"/>
          </a:solidFill>
          <a:ln w="19050">
            <a:solidFill>
              <a:srgbClr val="C084F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7E22CE"/>
                </a:solidFill>
              </a:defRPr>
            </a:pPr>
            <a:r>
              <a:t>👩‍💼 Admin Flow (Pemilik Kos) — High-Efficiency Back-Office</a:t>
            </a:r>
          </a:p>
          <a:p>
            <a:pPr>
              <a:defRPr sz="950">
                <a:solidFill>
                  <a:srgbClr val="475569"/>
                </a:solidFill>
              </a:defRPr>
            </a:pPr>
            <a:r>
              <a:t>✦ 1. Autentikasi Aman ➔ Login via email atau Google OAuth 2.0 satu sentuhan</a:t>
            </a:r>
          </a:p>
          <a:p>
            <a:pPr>
              <a:defRPr sz="950">
                <a:solidFill>
                  <a:srgbClr val="475569"/>
                </a:solidFill>
              </a:defRPr>
            </a:pPr>
            <a:r>
              <a:t>✦ 2. Dashboard Okupansi ➔ Pantau visual kamar kosong (hijau) vs terisi (merah)</a:t>
            </a:r>
          </a:p>
          <a:p>
            <a:pPr>
              <a:defRPr sz="950">
                <a:solidFill>
                  <a:srgbClr val="475569"/>
                </a:solidFill>
              </a:defRPr>
            </a:pPr>
            <a:r>
              <a:t>✦ 3. Modul Utilitas ➔ Input meteran listrik kWh dan kalkulasi kwitansi otomatis</a:t>
            </a:r>
          </a:p>
          <a:p>
            <a:pPr>
              <a:defRPr sz="950">
                <a:solidFill>
                  <a:srgbClr val="475569"/>
                </a:solidFill>
              </a:defRPr>
            </a:pPr>
            <a:r>
              <a:t>✦ 4. Dispatch &amp; Komplain ➔ Kirim tagihan via WhatsApp &amp; tindak lanjuti tiket fasilitas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E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472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20040"/>
            <a:ext cx="4114800" cy="384048"/>
          </a:xfrm>
          <a:prstGeom prst="roundRect">
            <a:avLst/>
          </a:prstGeom>
          <a:solidFill>
            <a:srgbClr val="FFE4E6"/>
          </a:solidFill>
          <a:ln w="12700">
            <a:solidFill>
              <a:srgbClr val="F472B6"/>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E11D48"/>
                </a:solidFill>
              </a:defRPr>
            </a:pPr>
            <a:r>
              <a:t>🔍 TECHNICAL DEEP DIVE</a:t>
            </a:r>
          </a:p>
        </p:txBody>
      </p:sp>
      <p:sp>
        <p:nvSpPr>
          <p:cNvPr id="5" name="TextBox 4"/>
          <p:cNvSpPr txBox="1"/>
          <p:nvPr/>
        </p:nvSpPr>
        <p:spPr>
          <a:xfrm>
            <a:off x="9326880" y="320040"/>
            <a:ext cx="2103120" cy="365760"/>
          </a:xfrm>
          <a:prstGeom prst="rect">
            <a:avLst/>
          </a:prstGeom>
          <a:noFill/>
        </p:spPr>
        <p:txBody>
          <a:bodyPr wrap="none">
            <a:spAutoFit/>
          </a:bodyPr>
          <a:lstStyle/>
          <a:p>
            <a:pPr algn="r">
              <a:defRPr sz="900" b="1">
                <a:solidFill>
                  <a:srgbClr val="94A3B8"/>
                </a:solidFill>
              </a:defRPr>
            </a:pPr>
            <a:r>
              <a:t>Slide 07 / 13 ✦ KostKu</a:t>
            </a:r>
          </a:p>
        </p:txBody>
      </p:sp>
      <p:sp>
        <p:nvSpPr>
          <p:cNvPr id="6" name="TextBox 5"/>
          <p:cNvSpPr txBox="1"/>
          <p:nvPr/>
        </p:nvSpPr>
        <p:spPr>
          <a:xfrm>
            <a:off x="731520" y="749808"/>
            <a:ext cx="10698480" cy="868680"/>
          </a:xfrm>
          <a:prstGeom prst="rect">
            <a:avLst/>
          </a:prstGeom>
          <a:noFill/>
        </p:spPr>
        <p:txBody>
          <a:bodyPr wrap="square">
            <a:spAutoFit/>
          </a:bodyPr>
          <a:lstStyle/>
          <a:p>
            <a:pPr>
              <a:defRPr sz="2000" b="1">
                <a:solidFill>
                  <a:srgbClr val="312E81"/>
                </a:solidFill>
              </a:defRPr>
            </a:pPr>
            <a:r>
              <a:t>Technical Lifecycle &amp; Service Mechanics</a:t>
            </a:r>
          </a:p>
          <a:p>
            <a:pPr>
              <a:defRPr sz="1050">
                <a:solidFill>
                  <a:srgbClr val="475569"/>
                </a:solidFill>
              </a:defRPr>
            </a:pPr>
            <a:r>
              <a:t>Mekanisme pembaruan biner mandiri &amp; strategi invalidasi cache PWA</a:t>
            </a:r>
          </a:p>
        </p:txBody>
      </p:sp>
      <p:sp>
        <p:nvSpPr>
          <p:cNvPr id="7" name="Rounded Rectangle 6"/>
          <p:cNvSpPr/>
          <p:nvPr/>
        </p:nvSpPr>
        <p:spPr>
          <a:xfrm>
            <a:off x="731520" y="1737360"/>
            <a:ext cx="5212080" cy="4480560"/>
          </a:xfrm>
          <a:prstGeom prst="roundRect">
            <a:avLst/>
          </a:prstGeom>
          <a:solidFill>
            <a:srgbClr val="FFFFFF"/>
          </a:solidFill>
          <a:ln w="19050">
            <a:solidFill>
              <a:srgbClr val="F472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E11D48"/>
                </a:solidFill>
              </a:defRPr>
            </a:pPr>
            <a:r>
              <a:t>📲 Android &amp; Desktop Auto-Update</a:t>
            </a:r>
          </a:p>
          <a:p>
            <a:pPr>
              <a:defRPr sz="950" b="1">
                <a:solidFill>
                  <a:srgbClr val="312E81"/>
                </a:solidFill>
              </a:defRPr>
            </a:pPr>
            <a:r>
              <a:t>✦ 1. Handshake Versi Server</a:t>
            </a:r>
          </a:p>
          <a:p>
            <a:pPr>
              <a:defRPr sz="850">
                <a:solidFill>
                  <a:srgbClr val="475569"/>
                </a:solidFill>
              </a:defRPr>
            </a:pPr>
            <a:r>
              <a:t>   GET /api/app-version dengan header No-Cache</a:t>
            </a:r>
          </a:p>
          <a:p>
            <a:pPr>
              <a:defRPr sz="950" b="1">
                <a:solidFill>
                  <a:srgbClr val="312E81"/>
                </a:solidFill>
              </a:defRPr>
            </a:pPr>
            <a:r>
              <a:t>✦ 2. Evaluasi SemVer 3-Tier</a:t>
            </a:r>
          </a:p>
          <a:p>
            <a:pPr>
              <a:defRPr sz="850">
                <a:solidFill>
                  <a:srgbClr val="475569"/>
                </a:solidFill>
              </a:defRPr>
            </a:pPr>
            <a:r>
              <a:t>   isNewerVersion(remote, local) membandingkan Major.Minor.Patch secara matematis (Cegah false-positive)</a:t>
            </a:r>
          </a:p>
          <a:p>
            <a:pPr>
              <a:defRPr sz="950" b="1">
                <a:solidFill>
                  <a:srgbClr val="312E81"/>
                </a:solidFill>
              </a:defRPr>
            </a:pPr>
            <a:r>
              <a:t>✦ 3. Pop-up Modal Interaktif</a:t>
            </a:r>
          </a:p>
          <a:p>
            <a:pPr>
              <a:defRPr sz="850">
                <a:solidFill>
                  <a:srgbClr val="475569"/>
                </a:solidFill>
              </a:defRPr>
            </a:pPr>
            <a:r>
              <a:t>   Menampilkan changelog pembaruan &amp; tombol 'Unduh APK Sekarang'</a:t>
            </a:r>
          </a:p>
          <a:p>
            <a:pPr>
              <a:defRPr sz="950" b="1">
                <a:solidFill>
                  <a:srgbClr val="312E81"/>
                </a:solidFill>
              </a:defRPr>
            </a:pPr>
            <a:r>
              <a:t>✦ 4. Stream APK Langsung</a:t>
            </a:r>
          </a:p>
          <a:p>
            <a:pPr>
              <a:defRPr sz="850">
                <a:solidFill>
                  <a:srgbClr val="475569"/>
                </a:solidFill>
              </a:defRPr>
            </a:pPr>
            <a:r>
              <a:t>   Server memancarkan biner KostKu.apk dengan MIME application/vnd.android.package-archive tanpa dialihkan ke web lain</a:t>
            </a:r>
          </a:p>
        </p:txBody>
      </p:sp>
      <p:sp>
        <p:nvSpPr>
          <p:cNvPr id="8" name="Rounded Rectangle 7"/>
          <p:cNvSpPr/>
          <p:nvPr/>
        </p:nvSpPr>
        <p:spPr>
          <a:xfrm>
            <a:off x="6217920" y="1737360"/>
            <a:ext cx="5212080" cy="4480560"/>
          </a:xfrm>
          <a:prstGeom prst="roundRect">
            <a:avLst/>
          </a:prstGeom>
          <a:solidFill>
            <a:srgbClr val="FFFFFF"/>
          </a:solidFill>
          <a:ln w="19050">
            <a:solidFill>
              <a:srgbClr val="C084F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7E22CE"/>
                </a:solidFill>
              </a:defRPr>
            </a:pPr>
            <a:r>
              <a:t>🌐 PWA Service Worker Cache Invalidation</a:t>
            </a:r>
          </a:p>
          <a:p>
            <a:pPr>
              <a:defRPr sz="950" b="1">
                <a:solidFill>
                  <a:srgbClr val="312E81"/>
                </a:solidFill>
              </a:defRPr>
            </a:pPr>
            <a:r>
              <a:t>✦ 1. Network-First Navigation</a:t>
            </a:r>
          </a:p>
          <a:p>
            <a:pPr>
              <a:defRPr sz="850">
                <a:solidFill>
                  <a:srgbClr val="475569"/>
                </a:solidFill>
              </a:defRPr>
            </a:pPr>
            <a:r>
              <a:t>   Dokumen index.html selalu dicek ke jaringan terlebih dahulu agar bundel JS selalu teranyar</a:t>
            </a:r>
          </a:p>
          <a:p>
            <a:pPr>
              <a:defRPr sz="950" b="1">
                <a:solidFill>
                  <a:srgbClr val="312E81"/>
                </a:solidFill>
              </a:defRPr>
            </a:pPr>
            <a:r>
              <a:t>✦ 2. SKIP_WAITING Signal</a:t>
            </a:r>
          </a:p>
          <a:p>
            <a:pPr>
              <a:defRPr sz="850">
                <a:solidFill>
                  <a:srgbClr val="475569"/>
                </a:solidFill>
              </a:defRPr>
            </a:pPr>
            <a:r>
              <a:t>   Saat versi baru rilis, SW baru langsung aktif tanpa menunggu penutupan tab</a:t>
            </a:r>
          </a:p>
          <a:p>
            <a:pPr>
              <a:defRPr sz="950" b="1">
                <a:solidFill>
                  <a:srgbClr val="312E81"/>
                </a:solidFill>
              </a:defRPr>
            </a:pPr>
            <a:r>
              <a:t>✦ 3. Unregister &amp; Cache Storage Clean</a:t>
            </a:r>
          </a:p>
          <a:p>
            <a:pPr>
              <a:defRPr sz="850">
                <a:solidFill>
                  <a:srgbClr val="475569"/>
                </a:solidFill>
              </a:defRPr>
            </a:pPr>
            <a:r>
              <a:t>   Otomatis menghapus caches.delete(allKeys) saat pengguna klik muat ulang</a:t>
            </a:r>
          </a:p>
          <a:p>
            <a:pPr>
              <a:defRPr sz="950" b="1">
                <a:solidFill>
                  <a:srgbClr val="312E81"/>
                </a:solidFill>
              </a:defRPr>
            </a:pPr>
            <a:r>
              <a:t>✦ 4. Reload dengan Cache Buster</a:t>
            </a:r>
          </a:p>
          <a:p>
            <a:pPr>
              <a:defRPr sz="850">
                <a:solidFill>
                  <a:srgbClr val="475569"/>
                </a:solidFill>
              </a:defRPr>
            </a:pPr>
            <a:r>
              <a:t>   window.location.reload() dipicu bersama parameter timestamp unik (?_cb=Date.now())</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E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472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20040"/>
            <a:ext cx="4114800" cy="384048"/>
          </a:xfrm>
          <a:prstGeom prst="roundRect">
            <a:avLst/>
          </a:prstGeom>
          <a:solidFill>
            <a:srgbClr val="FFE4E6"/>
          </a:solidFill>
          <a:ln w="12700">
            <a:solidFill>
              <a:srgbClr val="F472B6"/>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E11D48"/>
                </a:solidFill>
              </a:defRPr>
            </a:pPr>
            <a:r>
              <a:t>📊 STRATEGI &amp; KELAYAKAN BISNIS</a:t>
            </a:r>
          </a:p>
        </p:txBody>
      </p:sp>
      <p:sp>
        <p:nvSpPr>
          <p:cNvPr id="5" name="TextBox 4"/>
          <p:cNvSpPr txBox="1"/>
          <p:nvPr/>
        </p:nvSpPr>
        <p:spPr>
          <a:xfrm>
            <a:off x="9326880" y="320040"/>
            <a:ext cx="2103120" cy="365760"/>
          </a:xfrm>
          <a:prstGeom prst="rect">
            <a:avLst/>
          </a:prstGeom>
          <a:noFill/>
        </p:spPr>
        <p:txBody>
          <a:bodyPr wrap="none">
            <a:spAutoFit/>
          </a:bodyPr>
          <a:lstStyle/>
          <a:p>
            <a:pPr algn="r">
              <a:defRPr sz="900" b="1">
                <a:solidFill>
                  <a:srgbClr val="94A3B8"/>
                </a:solidFill>
              </a:defRPr>
            </a:pPr>
            <a:r>
              <a:t>Slide 08 / 13 ✦ KostKu</a:t>
            </a:r>
          </a:p>
        </p:txBody>
      </p:sp>
      <p:sp>
        <p:nvSpPr>
          <p:cNvPr id="6" name="TextBox 5"/>
          <p:cNvSpPr txBox="1"/>
          <p:nvPr/>
        </p:nvSpPr>
        <p:spPr>
          <a:xfrm>
            <a:off x="731520" y="749808"/>
            <a:ext cx="10698480" cy="868680"/>
          </a:xfrm>
          <a:prstGeom prst="rect">
            <a:avLst/>
          </a:prstGeom>
          <a:noFill/>
        </p:spPr>
        <p:txBody>
          <a:bodyPr wrap="square">
            <a:spAutoFit/>
          </a:bodyPr>
          <a:lstStyle/>
          <a:p>
            <a:pPr>
              <a:defRPr sz="2000" b="1">
                <a:solidFill>
                  <a:srgbClr val="312E81"/>
                </a:solidFill>
              </a:defRPr>
            </a:pPr>
            <a:r>
              <a:t>Monetization Strategy &amp; Competitive Moats</a:t>
            </a:r>
          </a:p>
          <a:p>
            <a:pPr>
              <a:defRPr sz="1050">
                <a:solidFill>
                  <a:srgbClr val="475569"/>
                </a:solidFill>
              </a:defRPr>
            </a:pPr>
            <a:r>
              <a:t>Bagaimana KostKu bertahan, memenangkan pasar, dan menghasilkan pendapatan</a:t>
            </a:r>
          </a:p>
        </p:txBody>
      </p:sp>
      <p:sp>
        <p:nvSpPr>
          <p:cNvPr id="7" name="Rounded Rectangle 6"/>
          <p:cNvSpPr/>
          <p:nvPr/>
        </p:nvSpPr>
        <p:spPr>
          <a:xfrm>
            <a:off x="731520" y="1737360"/>
            <a:ext cx="3383280" cy="4480560"/>
          </a:xfrm>
          <a:prstGeom prst="roundRect">
            <a:avLst/>
          </a:prstGeom>
          <a:solidFill>
            <a:srgbClr val="FEF2F2"/>
          </a:solidFill>
          <a:ln w="19050">
            <a:solidFill>
              <a:srgbClr val="F472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E11D48"/>
                </a:solidFill>
              </a:defRPr>
            </a:pPr>
            <a:r>
              <a:t>🎀 1. Freemium SaaS</a:t>
            </a:r>
          </a:p>
          <a:p>
            <a:pPr>
              <a:defRPr sz="850">
                <a:solidFill>
                  <a:srgbClr val="475569"/>
                </a:solidFill>
              </a:defRPr>
            </a:pPr>
            <a:r>
              <a:t>• Free Tier: Gratis hingga 5 kamar</a:t>
            </a:r>
          </a:p>
          <a:p>
            <a:pPr>
              <a:defRPr sz="850">
                <a:solidFill>
                  <a:srgbClr val="475569"/>
                </a:solidFill>
              </a:defRPr>
            </a:pPr>
            <a:r>
              <a:t>• Starter Plan: Rp 49.000 / bln (6-20 kamar)</a:t>
            </a:r>
          </a:p>
          <a:p>
            <a:pPr>
              <a:defRPr sz="850">
                <a:solidFill>
                  <a:srgbClr val="475569"/>
                </a:solidFill>
              </a:defRPr>
            </a:pPr>
            <a:r>
              <a:t>• Pro Business: Rp 99.000 / bln (&gt;20 kamar)</a:t>
            </a:r>
          </a:p>
          <a:p>
            <a:br/>
            <a:pPr>
              <a:defRPr sz="850">
                <a:solidFill>
                  <a:srgbClr val="475569"/>
                </a:solidFill>
              </a:defRPr>
            </a:pPr>
            <a:r>
              <a:t>💡 Rasionalitas Pasar:</a:t>
            </a:r>
          </a:p>
          <a:p>
            <a:pPr>
              <a:defRPr sz="850">
                <a:solidFill>
                  <a:srgbClr val="475569"/>
                </a:solidFill>
              </a:defRPr>
            </a:pPr>
            <a:r>
              <a:t>Hanya &lt;0.3% dari omzet kos (Rp 18jt/bln). Jauh lebih diminati dibanding komisi kompetitor yang memotong Rp 1.5jt/bln!</a:t>
            </a:r>
          </a:p>
        </p:txBody>
      </p:sp>
      <p:sp>
        <p:nvSpPr>
          <p:cNvPr id="8" name="Rounded Rectangle 7"/>
          <p:cNvSpPr/>
          <p:nvPr/>
        </p:nvSpPr>
        <p:spPr>
          <a:xfrm>
            <a:off x="4389120" y="1737360"/>
            <a:ext cx="3383280" cy="4480560"/>
          </a:xfrm>
          <a:prstGeom prst="roundRect">
            <a:avLst/>
          </a:prstGeom>
          <a:solidFill>
            <a:srgbClr val="F5F3FF"/>
          </a:solidFill>
          <a:ln w="19050">
            <a:solidFill>
              <a:srgbClr val="C084F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7E22CE"/>
                </a:solidFill>
              </a:defRPr>
            </a:pPr>
            <a:r>
              <a:t>✨ 2. Featured Listing</a:t>
            </a:r>
          </a:p>
          <a:p>
            <a:pPr>
              <a:defRPr sz="850">
                <a:solidFill>
                  <a:srgbClr val="475569"/>
                </a:solidFill>
              </a:defRPr>
            </a:pPr>
            <a:r>
              <a:t>• Spotlight Kota: Rp 25.000 / minggu untuk tampil di slot teratas</a:t>
            </a:r>
          </a:p>
          <a:p>
            <a:pPr>
              <a:defRPr sz="850">
                <a:solidFill>
                  <a:srgbClr val="475569"/>
                </a:solidFill>
              </a:defRPr>
            </a:pPr>
            <a:r>
              <a:t>• Verified Blueprint Badge: Rp 50.000 / tahun untuk verifikasi keaslian denah</a:t>
            </a:r>
          </a:p>
          <a:p>
            <a:br/>
            <a:pPr>
              <a:defRPr sz="850">
                <a:solidFill>
                  <a:srgbClr val="475569"/>
                </a:solidFill>
              </a:defRPr>
            </a:pPr>
            <a:r>
              <a:t>💡 Rasionalitas Pasar:</a:t>
            </a:r>
          </a:p>
          <a:p>
            <a:pPr>
              <a:defRPr sz="850">
                <a:solidFill>
                  <a:srgbClr val="475569"/>
                </a:solidFill>
              </a:defRPr>
            </a:pPr>
            <a:r>
              <a:t>Sangat relevan di awal semester ajaran baru kampus saat pemilik kos berebut calon penghuni mahasiswa baru.</a:t>
            </a:r>
          </a:p>
        </p:txBody>
      </p:sp>
      <p:sp>
        <p:nvSpPr>
          <p:cNvPr id="9" name="Rounded Rectangle 8"/>
          <p:cNvSpPr/>
          <p:nvPr/>
        </p:nvSpPr>
        <p:spPr>
          <a:xfrm>
            <a:off x="8046720" y="1737360"/>
            <a:ext cx="3383280" cy="4480560"/>
          </a:xfrm>
          <a:prstGeom prst="roundRect">
            <a:avLst/>
          </a:prstGeom>
          <a:solidFill>
            <a:srgbClr val="ECFDF5"/>
          </a:solidFill>
          <a:ln w="19050">
            <a:solidFill>
              <a:srgbClr val="6EE7B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047857"/>
                </a:solidFill>
              </a:defRPr>
            </a:pPr>
            <a:r>
              <a:t>🏰 4 Competitive Moats</a:t>
            </a:r>
          </a:p>
          <a:p>
            <a:pPr>
              <a:defRPr sz="850">
                <a:solidFill>
                  <a:srgbClr val="475569"/>
                </a:solidFill>
              </a:defRPr>
            </a:pPr>
            <a:r>
              <a:t>1. Architectural Transparency: Memangkas rasio batal survei hingga 60%</a:t>
            </a:r>
          </a:p>
          <a:p>
            <a:pPr>
              <a:defRPr sz="850">
                <a:solidFill>
                  <a:srgbClr val="475569"/>
                </a:solidFill>
              </a:defRPr>
            </a:pPr>
            <a:r>
              <a:t>2. Zero-Commission Loyalty: Pengelola setia karena omzet sewa utuh 100%</a:t>
            </a:r>
          </a:p>
          <a:p>
            <a:pPr>
              <a:defRPr sz="850">
                <a:solidFill>
                  <a:srgbClr val="475569"/>
                </a:solidFill>
              </a:defRPr>
            </a:pPr>
            <a:r>
              <a:t>3. High Switching Cost: Riwayat keuangan &amp; master kamar terkunci di sistem</a:t>
            </a:r>
          </a:p>
          <a:p>
            <a:pPr>
              <a:defRPr sz="850">
                <a:solidFill>
                  <a:srgbClr val="475569"/>
                </a:solidFill>
              </a:defRPr>
            </a:pPr>
            <a:r>
              <a:t>4. Lightweight Multiplatform: Performa mulus di HP Android spek terjangkau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E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472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20040"/>
            <a:ext cx="4114800" cy="384048"/>
          </a:xfrm>
          <a:prstGeom prst="roundRect">
            <a:avLst/>
          </a:prstGeom>
          <a:solidFill>
            <a:srgbClr val="FFE4E6"/>
          </a:solidFill>
          <a:ln w="12700">
            <a:solidFill>
              <a:srgbClr val="F472B6"/>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E11D48"/>
                </a:solidFill>
              </a:defRPr>
            </a:pPr>
            <a:r>
              <a:t>🤝 TATA KELOLA &amp; EKSEKUSI</a:t>
            </a:r>
          </a:p>
        </p:txBody>
      </p:sp>
      <p:sp>
        <p:nvSpPr>
          <p:cNvPr id="5" name="TextBox 4"/>
          <p:cNvSpPr txBox="1"/>
          <p:nvPr/>
        </p:nvSpPr>
        <p:spPr>
          <a:xfrm>
            <a:off x="9326880" y="320040"/>
            <a:ext cx="2103120" cy="365760"/>
          </a:xfrm>
          <a:prstGeom prst="rect">
            <a:avLst/>
          </a:prstGeom>
          <a:noFill/>
        </p:spPr>
        <p:txBody>
          <a:bodyPr wrap="none">
            <a:spAutoFit/>
          </a:bodyPr>
          <a:lstStyle/>
          <a:p>
            <a:pPr algn="r">
              <a:defRPr sz="900" b="1">
                <a:solidFill>
                  <a:srgbClr val="94A3B8"/>
                </a:solidFill>
              </a:defRPr>
            </a:pPr>
            <a:r>
              <a:t>Slide 09 / 13 ✦ KostKu</a:t>
            </a:r>
          </a:p>
        </p:txBody>
      </p:sp>
      <p:sp>
        <p:nvSpPr>
          <p:cNvPr id="6" name="TextBox 5"/>
          <p:cNvSpPr txBox="1"/>
          <p:nvPr/>
        </p:nvSpPr>
        <p:spPr>
          <a:xfrm>
            <a:off x="731520" y="749808"/>
            <a:ext cx="10698480" cy="868680"/>
          </a:xfrm>
          <a:prstGeom prst="rect">
            <a:avLst/>
          </a:prstGeom>
          <a:noFill/>
        </p:spPr>
        <p:txBody>
          <a:bodyPr wrap="square">
            <a:spAutoFit/>
          </a:bodyPr>
          <a:lstStyle/>
          <a:p>
            <a:pPr>
              <a:defRPr sz="2000" b="1">
                <a:solidFill>
                  <a:srgbClr val="312E81"/>
                </a:solidFill>
              </a:defRPr>
            </a:pPr>
            <a:r>
              <a:t>Tim Pengembang &amp; RACI Execution Matrix</a:t>
            </a:r>
          </a:p>
          <a:p>
            <a:pPr>
              <a:defRPr sz="1050">
                <a:solidFill>
                  <a:srgbClr val="475569"/>
                </a:solidFill>
              </a:defRPr>
            </a:pPr>
            <a:r>
              <a:t>Akuntabilitas peran dan siklus pengembangan 4 minggu (4-Week Sprint)</a:t>
            </a:r>
          </a:p>
        </p:txBody>
      </p:sp>
      <p:graphicFrame>
        <p:nvGraphicFramePr>
          <p:cNvPr id="7" name="Table 6"/>
          <p:cNvGraphicFramePr>
            <a:graphicFrameLocks noGrp="1"/>
          </p:cNvGraphicFramePr>
          <p:nvPr/>
        </p:nvGraphicFramePr>
        <p:xfrm>
          <a:off x="731520" y="1737360"/>
          <a:ext cx="10728655" cy="4389120"/>
        </p:xfrm>
        <a:graphic>
          <a:graphicData uri="http://schemas.openxmlformats.org/drawingml/2006/table">
            <a:tbl>
              <a:tblPr firstRow="1" bandRow="1">
                <a:tableStyleId>{5C22544A-7EE6-4342-B048-85BDC9FD1C3A}</a:tableStyleId>
              </a:tblPr>
              <a:tblGrid>
                <a:gridCol w="3413455"/>
                <a:gridCol w="1828800"/>
                <a:gridCol w="1828800"/>
                <a:gridCol w="1828800"/>
                <a:gridCol w="1828800"/>
              </a:tblGrid>
              <a:tr h="877824">
                <a:tc>
                  <a:txBody>
                    <a:bodyPr/>
                    <a:lstStyle/>
                    <a:p>
                      <a:pPr>
                        <a:defRPr sz="1000" b="1">
                          <a:solidFill>
                            <a:srgbClr val="312E81"/>
                          </a:solidFill>
                        </a:defRPr>
                      </a:pPr>
                      <a:r>
                        <a:t>Milestone / Modul Tugas</a:t>
                      </a:r>
                    </a:p>
                  </a:txBody>
                  <a:tcPr>
                    <a:solidFill>
                      <a:srgbClr val="EEF2FF"/>
                    </a:solidFill>
                  </a:tcPr>
                </a:tc>
                <a:tc>
                  <a:txBody>
                    <a:bodyPr/>
                    <a:lstStyle/>
                    <a:p>
                      <a:pPr>
                        <a:defRPr sz="1000" b="1">
                          <a:solidFill>
                            <a:srgbClr val="312E81"/>
                          </a:solidFill>
                        </a:defRPr>
                      </a:pPr>
                      <a:r>
                        <a:t>Frontend Lead</a:t>
                      </a:r>
                    </a:p>
                  </a:txBody>
                  <a:tcPr>
                    <a:solidFill>
                      <a:srgbClr val="EEF2FF"/>
                    </a:solidFill>
                  </a:tcPr>
                </a:tc>
                <a:tc>
                  <a:txBody>
                    <a:bodyPr/>
                    <a:lstStyle/>
                    <a:p>
                      <a:pPr>
                        <a:defRPr sz="1000" b="1">
                          <a:solidFill>
                            <a:srgbClr val="312E81"/>
                          </a:solidFill>
                        </a:defRPr>
                      </a:pPr>
                      <a:r>
                        <a:t>Backend Lead</a:t>
                      </a:r>
                    </a:p>
                  </a:txBody>
                  <a:tcPr>
                    <a:solidFill>
                      <a:srgbClr val="EEF2FF"/>
                    </a:solidFill>
                  </a:tcPr>
                </a:tc>
                <a:tc>
                  <a:txBody>
                    <a:bodyPr/>
                    <a:lstStyle/>
                    <a:p>
                      <a:pPr>
                        <a:defRPr sz="1000" b="1">
                          <a:solidFill>
                            <a:srgbClr val="312E81"/>
                          </a:solidFill>
                        </a:defRPr>
                      </a:pPr>
                      <a:r>
                        <a:t>UI/UX Designer</a:t>
                      </a:r>
                    </a:p>
                  </a:txBody>
                  <a:tcPr>
                    <a:solidFill>
                      <a:srgbClr val="EEF2FF"/>
                    </a:solidFill>
                  </a:tcPr>
                </a:tc>
                <a:tc>
                  <a:txBody>
                    <a:bodyPr/>
                    <a:lstStyle/>
                    <a:p>
                      <a:pPr>
                        <a:defRPr sz="1000" b="1">
                          <a:solidFill>
                            <a:srgbClr val="312E81"/>
                          </a:solidFill>
                        </a:defRPr>
                      </a:pPr>
                      <a:r>
                        <a:t>QA &amp; Mobile Lead</a:t>
                      </a:r>
                    </a:p>
                  </a:txBody>
                  <a:tcPr>
                    <a:solidFill>
                      <a:srgbClr val="EEF2FF"/>
                    </a:solidFill>
                  </a:tcPr>
                </a:tc>
              </a:tr>
              <a:tr h="877824">
                <a:tc>
                  <a:txBody>
                    <a:bodyPr/>
                    <a:lstStyle/>
                    <a:p>
                      <a:pPr>
                        <a:defRPr sz="950" b="1">
                          <a:solidFill>
                            <a:srgbClr val="475569"/>
                          </a:solidFill>
                        </a:defRPr>
                      </a:pPr>
                      <a:r>
                        <a:t>Interactive 2D Blueprint SVG Engine</a:t>
                      </a:r>
                    </a:p>
                  </a:txBody>
                  <a:tcPr>
                    <a:solidFill>
                      <a:srgbClr val="FFFFFF"/>
                    </a:solidFill>
                  </a:tcPr>
                </a:tc>
                <a:tc>
                  <a:txBody>
                    <a:bodyPr/>
                    <a:lstStyle/>
                    <a:p>
                      <a:pPr>
                        <a:defRPr sz="950" b="1">
                          <a:solidFill>
                            <a:srgbClr val="E11D48"/>
                          </a:solidFill>
                        </a:defRPr>
                      </a:pPr>
                      <a:r>
                        <a:t>R (Responsible)</a:t>
                      </a:r>
                    </a:p>
                  </a:txBody>
                  <a:tcPr>
                    <a:solidFill>
                      <a:srgbClr val="FFFFFF"/>
                    </a:solidFill>
                  </a:tcPr>
                </a:tc>
                <a:tc>
                  <a:txBody>
                    <a:bodyPr/>
                    <a:lstStyle/>
                    <a:p>
                      <a:pPr>
                        <a:defRPr sz="950" b="0">
                          <a:solidFill>
                            <a:srgbClr val="475569"/>
                          </a:solidFill>
                        </a:defRPr>
                      </a:pPr>
                      <a:r>
                        <a:t>C (Consulted)</a:t>
                      </a:r>
                    </a:p>
                  </a:txBody>
                  <a:tcPr>
                    <a:solidFill>
                      <a:srgbClr val="FFFFFF"/>
                    </a:solidFill>
                  </a:tcPr>
                </a:tc>
                <a:tc>
                  <a:txBody>
                    <a:bodyPr/>
                    <a:lstStyle/>
                    <a:p>
                      <a:pPr>
                        <a:defRPr sz="950" b="1">
                          <a:solidFill>
                            <a:srgbClr val="4F46E5"/>
                          </a:solidFill>
                        </a:defRPr>
                      </a:pPr>
                      <a:r>
                        <a:t>A (Accountable)</a:t>
                      </a:r>
                    </a:p>
                  </a:txBody>
                  <a:tcPr>
                    <a:solidFill>
                      <a:srgbClr val="FFFFFF"/>
                    </a:solidFill>
                  </a:tcPr>
                </a:tc>
                <a:tc>
                  <a:txBody>
                    <a:bodyPr/>
                    <a:lstStyle/>
                    <a:p>
                      <a:pPr>
                        <a:defRPr sz="950" b="0">
                          <a:solidFill>
                            <a:srgbClr val="475569"/>
                          </a:solidFill>
                        </a:defRPr>
                      </a:pPr>
                      <a:r>
                        <a:t>I (Informed)</a:t>
                      </a:r>
                    </a:p>
                  </a:txBody>
                  <a:tcPr>
                    <a:solidFill>
                      <a:srgbClr val="FFFFFF"/>
                    </a:solidFill>
                  </a:tcPr>
                </a:tc>
              </a:tr>
              <a:tr h="877824">
                <a:tc>
                  <a:txBody>
                    <a:bodyPr/>
                    <a:lstStyle/>
                    <a:p>
                      <a:pPr>
                        <a:defRPr sz="950" b="1">
                          <a:solidFill>
                            <a:srgbClr val="475569"/>
                          </a:solidFill>
                        </a:defRPr>
                      </a:pPr>
                      <a:r>
                        <a:t>Local-First Engine &amp; Supabase Sync</a:t>
                      </a:r>
                    </a:p>
                  </a:txBody>
                  <a:tcPr>
                    <a:solidFill>
                      <a:srgbClr val="F8FAFC"/>
                    </a:solidFill>
                  </a:tcPr>
                </a:tc>
                <a:tc>
                  <a:txBody>
                    <a:bodyPr/>
                    <a:lstStyle/>
                    <a:p>
                      <a:pPr>
                        <a:defRPr sz="950" b="0">
                          <a:solidFill>
                            <a:srgbClr val="475569"/>
                          </a:solidFill>
                        </a:defRPr>
                      </a:pPr>
                      <a:r>
                        <a:t>C (Consulted)</a:t>
                      </a:r>
                    </a:p>
                  </a:txBody>
                  <a:tcPr>
                    <a:solidFill>
                      <a:srgbClr val="F8FAFC"/>
                    </a:solidFill>
                  </a:tcPr>
                </a:tc>
                <a:tc>
                  <a:txBody>
                    <a:bodyPr/>
                    <a:lstStyle/>
                    <a:p>
                      <a:pPr>
                        <a:defRPr sz="950" b="1">
                          <a:solidFill>
                            <a:srgbClr val="E11D48"/>
                          </a:solidFill>
                        </a:defRPr>
                      </a:pPr>
                      <a:r>
                        <a:t>R (Responsible)</a:t>
                      </a:r>
                    </a:p>
                  </a:txBody>
                  <a:tcPr>
                    <a:solidFill>
                      <a:srgbClr val="F8FAFC"/>
                    </a:solidFill>
                  </a:tcPr>
                </a:tc>
                <a:tc>
                  <a:txBody>
                    <a:bodyPr/>
                    <a:lstStyle/>
                    <a:p>
                      <a:pPr>
                        <a:defRPr sz="950" b="0">
                          <a:solidFill>
                            <a:srgbClr val="475569"/>
                          </a:solidFill>
                        </a:defRPr>
                      </a:pPr>
                      <a:r>
                        <a:t>I (Informed)</a:t>
                      </a:r>
                    </a:p>
                  </a:txBody>
                  <a:tcPr>
                    <a:solidFill>
                      <a:srgbClr val="F8FAFC"/>
                    </a:solidFill>
                  </a:tcPr>
                </a:tc>
                <a:tc>
                  <a:txBody>
                    <a:bodyPr/>
                    <a:lstStyle/>
                    <a:p>
                      <a:pPr>
                        <a:defRPr sz="950" b="1">
                          <a:solidFill>
                            <a:srgbClr val="4F46E5"/>
                          </a:solidFill>
                        </a:defRPr>
                      </a:pPr>
                      <a:r>
                        <a:t>A (Accountable)</a:t>
                      </a:r>
                    </a:p>
                  </a:txBody>
                  <a:tcPr>
                    <a:solidFill>
                      <a:srgbClr val="F8FAFC"/>
                    </a:solidFill>
                  </a:tcPr>
                </a:tc>
              </a:tr>
              <a:tr h="877824">
                <a:tc>
                  <a:txBody>
                    <a:bodyPr/>
                    <a:lstStyle/>
                    <a:p>
                      <a:pPr>
                        <a:defRPr sz="950" b="1">
                          <a:solidFill>
                            <a:srgbClr val="4F46E5"/>
                          </a:solidFill>
                        </a:defRPr>
                      </a:pPr>
                      <a:r>
                        <a:t>Utility Calculator &amp; WhatsApp Deep-Link</a:t>
                      </a:r>
                    </a:p>
                  </a:txBody>
                  <a:tcPr>
                    <a:solidFill>
                      <a:srgbClr val="FFFFFF"/>
                    </a:solidFill>
                  </a:tcPr>
                </a:tc>
                <a:tc>
                  <a:txBody>
                    <a:bodyPr/>
                    <a:lstStyle/>
                    <a:p>
                      <a:pPr>
                        <a:defRPr sz="950" b="1">
                          <a:solidFill>
                            <a:srgbClr val="E11D48"/>
                          </a:solidFill>
                        </a:defRPr>
                      </a:pPr>
                      <a:r>
                        <a:t>R (Responsible)</a:t>
                      </a:r>
                    </a:p>
                  </a:txBody>
                  <a:tcPr>
                    <a:solidFill>
                      <a:srgbClr val="FFFFFF"/>
                    </a:solidFill>
                  </a:tcPr>
                </a:tc>
                <a:tc>
                  <a:txBody>
                    <a:bodyPr/>
                    <a:lstStyle/>
                    <a:p>
                      <a:pPr>
                        <a:defRPr sz="950" b="1">
                          <a:solidFill>
                            <a:srgbClr val="E11D48"/>
                          </a:solidFill>
                        </a:defRPr>
                      </a:pPr>
                      <a:r>
                        <a:t>R (Responsible)</a:t>
                      </a:r>
                    </a:p>
                  </a:txBody>
                  <a:tcPr>
                    <a:solidFill>
                      <a:srgbClr val="FFFFFF"/>
                    </a:solidFill>
                  </a:tcPr>
                </a:tc>
                <a:tc>
                  <a:txBody>
                    <a:bodyPr/>
                    <a:lstStyle/>
                    <a:p>
                      <a:pPr>
                        <a:defRPr sz="950" b="0">
                          <a:solidFill>
                            <a:srgbClr val="475569"/>
                          </a:solidFill>
                        </a:defRPr>
                      </a:pPr>
                      <a:r>
                        <a:t>I (Informed)</a:t>
                      </a:r>
                    </a:p>
                  </a:txBody>
                  <a:tcPr>
                    <a:solidFill>
                      <a:srgbClr val="FFFFFF"/>
                    </a:solidFill>
                  </a:tcPr>
                </a:tc>
                <a:tc>
                  <a:txBody>
                    <a:bodyPr/>
                    <a:lstStyle/>
                    <a:p>
                      <a:pPr>
                        <a:defRPr sz="950" b="1">
                          <a:solidFill>
                            <a:srgbClr val="4F46E5"/>
                          </a:solidFill>
                        </a:defRPr>
                      </a:pPr>
                      <a:r>
                        <a:t>A (Accountable)</a:t>
                      </a:r>
                    </a:p>
                  </a:txBody>
                  <a:tcPr>
                    <a:solidFill>
                      <a:srgbClr val="FFFFFF"/>
                    </a:solidFill>
                  </a:tcPr>
                </a:tc>
              </a:tr>
              <a:tr h="877824">
                <a:tc>
                  <a:txBody>
                    <a:bodyPr/>
                    <a:lstStyle/>
                    <a:p>
                      <a:pPr>
                        <a:defRPr sz="950" b="1">
                          <a:solidFill>
                            <a:srgbClr val="4F46E5"/>
                          </a:solidFill>
                        </a:defRPr>
                      </a:pPr>
                      <a:r>
                        <a:t>Testing, PWA Cache &amp; Multiplatform APK</a:t>
                      </a:r>
                    </a:p>
                  </a:txBody>
                  <a:tcPr>
                    <a:solidFill>
                      <a:srgbClr val="F8FAFC"/>
                    </a:solidFill>
                  </a:tcPr>
                </a:tc>
                <a:tc>
                  <a:txBody>
                    <a:bodyPr/>
                    <a:lstStyle/>
                    <a:p>
                      <a:pPr>
                        <a:defRPr sz="950" b="0">
                          <a:solidFill>
                            <a:srgbClr val="475569"/>
                          </a:solidFill>
                        </a:defRPr>
                      </a:pPr>
                      <a:r>
                        <a:t>I (Informed)</a:t>
                      </a:r>
                    </a:p>
                  </a:txBody>
                  <a:tcPr>
                    <a:solidFill>
                      <a:srgbClr val="F8FAFC"/>
                    </a:solidFill>
                  </a:tcPr>
                </a:tc>
                <a:tc>
                  <a:txBody>
                    <a:bodyPr/>
                    <a:lstStyle/>
                    <a:p>
                      <a:pPr>
                        <a:defRPr sz="950" b="0">
                          <a:solidFill>
                            <a:srgbClr val="475569"/>
                          </a:solidFill>
                        </a:defRPr>
                      </a:pPr>
                      <a:r>
                        <a:t>I (Informed)</a:t>
                      </a:r>
                    </a:p>
                  </a:txBody>
                  <a:tcPr>
                    <a:solidFill>
                      <a:srgbClr val="F8FAFC"/>
                    </a:solidFill>
                  </a:tcPr>
                </a:tc>
                <a:tc>
                  <a:txBody>
                    <a:bodyPr/>
                    <a:lstStyle/>
                    <a:p>
                      <a:pPr>
                        <a:defRPr sz="950" b="0">
                          <a:solidFill>
                            <a:srgbClr val="475569"/>
                          </a:solidFill>
                        </a:defRPr>
                      </a:pPr>
                      <a:r>
                        <a:t>C (Consulted)</a:t>
                      </a:r>
                    </a:p>
                  </a:txBody>
                  <a:tcPr>
                    <a:solidFill>
                      <a:srgbClr val="F8FAFC"/>
                    </a:solidFill>
                  </a:tcPr>
                </a:tc>
                <a:tc>
                  <a:txBody>
                    <a:bodyPr/>
                    <a:lstStyle/>
                    <a:p>
                      <a:pPr>
                        <a:defRPr sz="950" b="1">
                          <a:solidFill>
                            <a:srgbClr val="E11D48"/>
                          </a:solidFill>
                        </a:defRPr>
                      </a:pPr>
                      <a:r>
                        <a:t>R / A (Lead)</a:t>
                      </a:r>
                    </a:p>
                  </a:txBody>
                  <a:tcPr>
                    <a:solidFill>
                      <a:srgbClr val="F8FAFC"/>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97280" y="914400"/>
            <a:ext cx="9997135" cy="5029200"/>
          </a:xfrm>
          <a:prstGeom prst="roundRect">
            <a:avLst/>
          </a:prstGeom>
          <a:solidFill>
            <a:srgbClr val="FFFFFF"/>
          </a:solidFill>
          <a:ln w="19050">
            <a:solidFill>
              <a:srgbClr val="F472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800" b="1">
                <a:solidFill>
                  <a:srgbClr val="E11D48"/>
                </a:solidFill>
              </a:defRPr>
            </a:pPr>
            <a:r>
              <a:t>🌸 TERIMA KASIH BANYAK 🌸</a:t>
            </a:r>
          </a:p>
          <a:p>
            <a:pPr algn="ctr">
              <a:defRPr sz="1400">
                <a:solidFill>
                  <a:srgbClr val="312E81"/>
                </a:solidFill>
              </a:defRPr>
            </a:pPr>
            <a:r>
              <a:t>KostKu: Platform Manajemen &amp; Marketplace Kost Pintar Berbasis Denah Interaktif</a:t>
            </a:r>
            <a:br/>
          </a:p>
          <a:p>
            <a:pPr algn="ctr">
              <a:defRPr sz="1200" b="1">
                <a:solidFill>
                  <a:srgbClr val="7E22CE"/>
                </a:solidFill>
              </a:defRPr>
            </a:pPr>
            <a:r>
              <a:t>✦ Live Demo Ready ✦ Siap Mendemonstrasikan Fitur Aplikasi Secara Langsung ✦</a:t>
            </a:r>
            <a:br/>
          </a:p>
          <a:p>
            <a:pPr algn="ctr">
              <a:defRPr sz="1000">
                <a:solidFill>
                  <a:srgbClr val="475569"/>
                </a:solidFill>
              </a:defRPr>
            </a:pPr>
            <a:r>
              <a:t>• Web PWA: Responsif Laptop &amp; Smartphone</a:t>
            </a:r>
            <a:br/>
            <a:r>
              <a:t>• Android APK: Terpasang di Device Penguji</a:t>
            </a:r>
            <a:br/>
            <a:r>
              <a:t>• Windows Desktop: Standalone Portable Executable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E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472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20040"/>
            <a:ext cx="4114800" cy="384048"/>
          </a:xfrm>
          <a:prstGeom prst="roundRect">
            <a:avLst/>
          </a:prstGeom>
          <a:solidFill>
            <a:srgbClr val="FFE4E6"/>
          </a:solidFill>
          <a:ln w="12700">
            <a:solidFill>
              <a:srgbClr val="F472B6"/>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E11D48"/>
                </a:solidFill>
              </a:defRPr>
            </a:pPr>
            <a:r>
              <a:t>🛡️ PANDUAN PERTAHANAN Q&amp;A #1</a:t>
            </a:r>
          </a:p>
        </p:txBody>
      </p:sp>
      <p:sp>
        <p:nvSpPr>
          <p:cNvPr id="5" name="TextBox 4"/>
          <p:cNvSpPr txBox="1"/>
          <p:nvPr/>
        </p:nvSpPr>
        <p:spPr>
          <a:xfrm>
            <a:off x="9326880" y="320040"/>
            <a:ext cx="2103120" cy="365760"/>
          </a:xfrm>
          <a:prstGeom prst="rect">
            <a:avLst/>
          </a:prstGeom>
          <a:noFill/>
        </p:spPr>
        <p:txBody>
          <a:bodyPr wrap="none">
            <a:spAutoFit/>
          </a:bodyPr>
          <a:lstStyle/>
          <a:p>
            <a:pPr algn="r">
              <a:defRPr sz="900" b="1">
                <a:solidFill>
                  <a:srgbClr val="94A3B8"/>
                </a:solidFill>
              </a:defRPr>
            </a:pPr>
            <a:r>
              <a:t>Slide 11 / 13 ✦ KostKu</a:t>
            </a:r>
          </a:p>
        </p:txBody>
      </p:sp>
      <p:sp>
        <p:nvSpPr>
          <p:cNvPr id="6" name="TextBox 5"/>
          <p:cNvSpPr txBox="1"/>
          <p:nvPr/>
        </p:nvSpPr>
        <p:spPr>
          <a:xfrm>
            <a:off x="731520" y="749808"/>
            <a:ext cx="10698480" cy="868680"/>
          </a:xfrm>
          <a:prstGeom prst="rect">
            <a:avLst/>
          </a:prstGeom>
          <a:noFill/>
        </p:spPr>
        <p:txBody>
          <a:bodyPr wrap="square">
            <a:spAutoFit/>
          </a:bodyPr>
          <a:lstStyle/>
          <a:p>
            <a:pPr>
              <a:defRPr sz="2000" b="1">
                <a:solidFill>
                  <a:srgbClr val="312E81"/>
                </a:solidFill>
              </a:defRPr>
            </a:pPr>
            <a:r>
              <a:t>Kenapa Denah 2D SVG, Bukan Foto 360 / Virtual Tour?</a:t>
            </a:r>
          </a:p>
          <a:p>
            <a:pPr>
              <a:defRPr sz="1050">
                <a:solidFill>
                  <a:srgbClr val="475569"/>
                </a:solidFill>
              </a:defRPr>
            </a:pPr>
            <a:r>
              <a:t>Argumen teknis efisiensi bandwidth, presisi ukuran fisik, dan kemudahan pemeliharaan</a:t>
            </a:r>
          </a:p>
        </p:txBody>
      </p:sp>
      <p:sp>
        <p:nvSpPr>
          <p:cNvPr id="7" name="Rounded Rectangle 6"/>
          <p:cNvSpPr/>
          <p:nvPr/>
        </p:nvSpPr>
        <p:spPr>
          <a:xfrm>
            <a:off x="731520" y="1737360"/>
            <a:ext cx="10728655" cy="4480560"/>
          </a:xfrm>
          <a:prstGeom prst="roundRect">
            <a:avLst/>
          </a:prstGeom>
          <a:solidFill>
            <a:srgbClr val="FFFFFF"/>
          </a:solidFill>
          <a:ln w="19050">
            <a:solidFill>
              <a:srgbClr val="F472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p>
          <a:p>
            <a:pPr>
              <a:defRPr sz="1100" b="1">
                <a:solidFill>
                  <a:srgbClr val="312E81"/>
                </a:solidFill>
              </a:defRPr>
            </a:pPr>
            <a:r>
              <a:t>✦ 1. Ukuran File &amp; Efisiensi Bandwidth:</a:t>
            </a:r>
          </a:p>
          <a:p>
            <a:pPr>
              <a:defRPr sz="950">
                <a:solidFill>
                  <a:srgbClr val="475569"/>
                </a:solidFill>
              </a:defRPr>
            </a:pPr>
            <a:r>
              <a:t>   Foto 360° / Matterport memakan 10 MB - 50 MB per ruangan. Sebaliknya, denah vektor SVG kami berukuran rata-rata di bawah 15 Kilobytes (&lt;15KB), dapat dimuat instan (near-zero latency) bahkan di sinyal 3G.</a:t>
            </a:r>
          </a:p>
          <a:p>
            <a:pPr>
              <a:defRPr sz="1100" b="1">
                <a:solidFill>
                  <a:srgbClr val="312E81"/>
                </a:solidFill>
              </a:defRPr>
            </a:pPr>
            <a:r>
              <a:t>✦ 2. Kepastian Dimensi &amp; Tata Letak Nyata:</a:t>
            </a:r>
          </a:p>
          <a:p>
            <a:pPr>
              <a:defRPr sz="950">
                <a:solidFill>
                  <a:srgbClr val="475569"/>
                </a:solidFill>
              </a:defRPr>
            </a:pPr>
            <a:r>
              <a:t>   Foto 360° tetap memakai lensa cembung (fish-eye) yang mendistorsi persepsi ruang. Denah 2D SVG menggunakan skala presisi 1:50 yang menunjukkan ukuran riil kasur (160x200cm), sisa ruang gerak, dan lebar pintu.</a:t>
            </a:r>
          </a:p>
          <a:p>
            <a:pPr>
              <a:defRPr sz="1100" b="1">
                <a:solidFill>
                  <a:srgbClr val="312E81"/>
                </a:solidFill>
              </a:defRPr>
            </a:pPr>
            <a:r>
              <a:t>✦ 3. Kemudahan Maintenance &amp; Update Data:</a:t>
            </a:r>
          </a:p>
          <a:p>
            <a:pPr>
              <a:defRPr sz="950">
                <a:solidFill>
                  <a:srgbClr val="475569"/>
                </a:solidFill>
              </a:defRPr>
            </a:pPr>
            <a:r>
              <a:t>   Mengubah tata letak pada foto 360° membutuhkan foto ulang (reshooting) yang mahal. Pada denah SVG, perubahan posisi perabot hanya butuh update atribut koordinat JSON sederhana di frontend.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E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472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20040"/>
            <a:ext cx="4114800" cy="384048"/>
          </a:xfrm>
          <a:prstGeom prst="roundRect">
            <a:avLst/>
          </a:prstGeom>
          <a:solidFill>
            <a:srgbClr val="FFE4E6"/>
          </a:solidFill>
          <a:ln w="12700">
            <a:solidFill>
              <a:srgbClr val="F472B6"/>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E11D48"/>
                </a:solidFill>
              </a:defRPr>
            </a:pPr>
            <a:r>
              <a:t>🛡️ PANDUAN PERTAHANAN Q&amp;A #2</a:t>
            </a:r>
          </a:p>
        </p:txBody>
      </p:sp>
      <p:sp>
        <p:nvSpPr>
          <p:cNvPr id="5" name="TextBox 4"/>
          <p:cNvSpPr txBox="1"/>
          <p:nvPr/>
        </p:nvSpPr>
        <p:spPr>
          <a:xfrm>
            <a:off x="9326880" y="320040"/>
            <a:ext cx="2103120" cy="365760"/>
          </a:xfrm>
          <a:prstGeom prst="rect">
            <a:avLst/>
          </a:prstGeom>
          <a:noFill/>
        </p:spPr>
        <p:txBody>
          <a:bodyPr wrap="none">
            <a:spAutoFit/>
          </a:bodyPr>
          <a:lstStyle/>
          <a:p>
            <a:pPr algn="r">
              <a:defRPr sz="900" b="1">
                <a:solidFill>
                  <a:srgbClr val="94A3B8"/>
                </a:solidFill>
              </a:defRPr>
            </a:pPr>
            <a:r>
              <a:t>Slide 12 / 13 ✦ KostKu</a:t>
            </a:r>
          </a:p>
        </p:txBody>
      </p:sp>
      <p:sp>
        <p:nvSpPr>
          <p:cNvPr id="6" name="TextBox 5"/>
          <p:cNvSpPr txBox="1"/>
          <p:nvPr/>
        </p:nvSpPr>
        <p:spPr>
          <a:xfrm>
            <a:off x="731520" y="749808"/>
            <a:ext cx="10698480" cy="868680"/>
          </a:xfrm>
          <a:prstGeom prst="rect">
            <a:avLst/>
          </a:prstGeom>
          <a:noFill/>
        </p:spPr>
        <p:txBody>
          <a:bodyPr wrap="square">
            <a:spAutoFit/>
          </a:bodyPr>
          <a:lstStyle/>
          <a:p>
            <a:pPr>
              <a:defRPr sz="2000" b="1">
                <a:solidFill>
                  <a:srgbClr val="312E81"/>
                </a:solidFill>
              </a:defRPr>
            </a:pPr>
            <a:r>
              <a:t>Kenapa Arsitektur Local-First, Bukan Full Cloud?</a:t>
            </a:r>
          </a:p>
          <a:p>
            <a:pPr>
              <a:defRPr sz="1050">
                <a:solidFill>
                  <a:srgbClr val="475569"/>
                </a:solidFill>
              </a:defRPr>
            </a:pPr>
            <a:r>
              <a:t>Argumen teknis zero-offline latency, cost efficiency, dan kedaulatan data pemilik</a:t>
            </a:r>
          </a:p>
        </p:txBody>
      </p:sp>
      <p:sp>
        <p:nvSpPr>
          <p:cNvPr id="7" name="Rounded Rectangle 6"/>
          <p:cNvSpPr/>
          <p:nvPr/>
        </p:nvSpPr>
        <p:spPr>
          <a:xfrm>
            <a:off x="731520" y="1737360"/>
            <a:ext cx="10728655" cy="4480560"/>
          </a:xfrm>
          <a:prstGeom prst="roundRect">
            <a:avLst/>
          </a:prstGeom>
          <a:solidFill>
            <a:srgbClr val="FFFFFF"/>
          </a:solidFill>
          <a:ln w="19050">
            <a:solidFill>
              <a:srgbClr val="C084F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p>
          <a:p>
            <a:pPr>
              <a:defRPr sz="1100" b="1">
                <a:solidFill>
                  <a:srgbClr val="312E81"/>
                </a:solidFill>
              </a:defRPr>
            </a:pPr>
            <a:r>
              <a:t>✦ 1. Ketahanan Operasional (Zero-Offline Latency):</a:t>
            </a:r>
          </a:p>
          <a:p>
            <a:pPr>
              <a:defRPr sz="950">
                <a:solidFill>
                  <a:srgbClr val="475569"/>
                </a:solidFill>
              </a:defRPr>
            </a:pPr>
            <a:r>
              <a:t>   Pemilik kos sering mencatat meteran listrik langsung di lorong atau sudut gedung yang sering blank spot sinyal. Dengan Local-First, input data tidak pernah gagal atau loading berputar.</a:t>
            </a:r>
          </a:p>
          <a:p>
            <a:pPr>
              <a:defRPr sz="1100" b="1">
                <a:solidFill>
                  <a:srgbClr val="312E81"/>
                </a:solidFill>
              </a:defRPr>
            </a:pPr>
            <a:r>
              <a:t>✦ 2. Pengurangan Beban Server (Cost Efficiency):</a:t>
            </a:r>
          </a:p>
          <a:p>
            <a:pPr>
              <a:defRPr sz="950">
                <a:solidFill>
                  <a:srgbClr val="475569"/>
                </a:solidFill>
              </a:defRPr>
            </a:pPr>
            <a:r>
              <a:t>   Operasional read/write harian berjalan lokal di perangkat pengguna. Cloud Supabase hanya menerima delta sync saat ada koneksi, memangkas biaya infrastruktur cloud hingga 80%.</a:t>
            </a:r>
          </a:p>
          <a:p>
            <a:pPr>
              <a:defRPr sz="1100" b="1">
                <a:solidFill>
                  <a:srgbClr val="312E81"/>
                </a:solidFill>
              </a:defRPr>
            </a:pPr>
            <a:r>
              <a:t>✦ 3. Keamanan &amp; Privasi Data Pengelola (Data Sovereignty):</a:t>
            </a:r>
          </a:p>
          <a:p>
            <a:pPr>
              <a:defRPr sz="950">
                <a:solidFill>
                  <a:srgbClr val="475569"/>
                </a:solidFill>
              </a:defRPr>
            </a:pPr>
            <a:r>
              <a:t>   Data sensitif pembukuan dan catatan keuangan dasar berada di bawah kendali lokal perangkat pemilik, meminimalkan risiko kebocoran data terpusat.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E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472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20040"/>
            <a:ext cx="4114800" cy="384048"/>
          </a:xfrm>
          <a:prstGeom prst="roundRect">
            <a:avLst/>
          </a:prstGeom>
          <a:solidFill>
            <a:srgbClr val="FFE4E6"/>
          </a:solidFill>
          <a:ln w="12700">
            <a:solidFill>
              <a:srgbClr val="F472B6"/>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E11D48"/>
                </a:solidFill>
              </a:defRPr>
            </a:pPr>
            <a:r>
              <a:t>🛡️ PANDUAN PERTAHANAN Q&amp;A #3</a:t>
            </a:r>
          </a:p>
        </p:txBody>
      </p:sp>
      <p:sp>
        <p:nvSpPr>
          <p:cNvPr id="5" name="TextBox 4"/>
          <p:cNvSpPr txBox="1"/>
          <p:nvPr/>
        </p:nvSpPr>
        <p:spPr>
          <a:xfrm>
            <a:off x="9326880" y="320040"/>
            <a:ext cx="2103120" cy="365760"/>
          </a:xfrm>
          <a:prstGeom prst="rect">
            <a:avLst/>
          </a:prstGeom>
          <a:noFill/>
        </p:spPr>
        <p:txBody>
          <a:bodyPr wrap="none">
            <a:spAutoFit/>
          </a:bodyPr>
          <a:lstStyle/>
          <a:p>
            <a:pPr algn="r">
              <a:defRPr sz="900" b="1">
                <a:solidFill>
                  <a:srgbClr val="94A3B8"/>
                </a:solidFill>
              </a:defRPr>
            </a:pPr>
            <a:r>
              <a:t>Slide 13 / 13 ✦ KostKu</a:t>
            </a:r>
          </a:p>
        </p:txBody>
      </p:sp>
      <p:sp>
        <p:nvSpPr>
          <p:cNvPr id="6" name="TextBox 5"/>
          <p:cNvSpPr txBox="1"/>
          <p:nvPr/>
        </p:nvSpPr>
        <p:spPr>
          <a:xfrm>
            <a:off x="731520" y="749808"/>
            <a:ext cx="10698480" cy="868680"/>
          </a:xfrm>
          <a:prstGeom prst="rect">
            <a:avLst/>
          </a:prstGeom>
          <a:noFill/>
        </p:spPr>
        <p:txBody>
          <a:bodyPr wrap="square">
            <a:spAutoFit/>
          </a:bodyPr>
          <a:lstStyle/>
          <a:p>
            <a:pPr>
              <a:defRPr sz="2000" b="1">
                <a:solidFill>
                  <a:srgbClr val="312E81"/>
                </a:solidFill>
              </a:defRPr>
            </a:pPr>
            <a:r>
              <a:t>Kenapa 0% Komisi &amp; Direct WhatsApp? Rawan Ditinggalkan?</a:t>
            </a:r>
          </a:p>
          <a:p>
            <a:pPr>
              <a:defRPr sz="1050">
                <a:solidFill>
                  <a:srgbClr val="475569"/>
                </a:solidFill>
              </a:defRPr>
            </a:pPr>
            <a:r>
              <a:t>Transformasi software house vs marketplace agent &amp; retensi berbasis switching cost</a:t>
            </a:r>
          </a:p>
        </p:txBody>
      </p:sp>
      <p:sp>
        <p:nvSpPr>
          <p:cNvPr id="7" name="Rounded Rectangle 6"/>
          <p:cNvSpPr/>
          <p:nvPr/>
        </p:nvSpPr>
        <p:spPr>
          <a:xfrm>
            <a:off x="731520" y="1737360"/>
            <a:ext cx="10728655" cy="4480560"/>
          </a:xfrm>
          <a:prstGeom prst="roundRect">
            <a:avLst/>
          </a:prstGeom>
          <a:solidFill>
            <a:srgbClr val="FFFFFF"/>
          </a:solidFill>
          <a:ln w="19050">
            <a:solidFill>
              <a:srgbClr val="6EE7B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p>
          <a:p>
            <a:pPr>
              <a:defRPr sz="1100" b="1">
                <a:solidFill>
                  <a:srgbClr val="312E81"/>
                </a:solidFill>
              </a:defRPr>
            </a:pPr>
            <a:r>
              <a:t>✦ 1. Perubahan Paradigma: Software House vs Agen Makelar:</a:t>
            </a:r>
          </a:p>
          <a:p>
            <a:pPr>
              <a:defRPr sz="950">
                <a:solidFill>
                  <a:srgbClr val="475569"/>
                </a:solidFill>
              </a:defRPr>
            </a:pPr>
            <a:r>
              <a:t>   KostKu diposisikan sebagai Property Management Software (SaaS), bukan calo perantara sewa. Pendapatan kami dari langganan fitur otomatisasi operasional (Rp 49k - 99k/bln), bukan dari memotong komisi sewa.</a:t>
            </a:r>
          </a:p>
          <a:p>
            <a:pPr>
              <a:defRPr sz="1100" b="1">
                <a:solidFill>
                  <a:srgbClr val="312E81"/>
                </a:solidFill>
              </a:defRPr>
            </a:pPr>
            <a:r>
              <a:t>✦ 2. Menghilangkan Kebiasaan Bypass Transaksi:</a:t>
            </a:r>
          </a:p>
          <a:p>
            <a:pPr>
              <a:defRPr sz="950">
                <a:solidFill>
                  <a:srgbClr val="475569"/>
                </a:solidFill>
              </a:defRPr>
            </a:pPr>
            <a:r>
              <a:t>   Pada aplikasi komisi 5-10%, pemilik dan penyewa selalu berusaha mencari celah bertukar nomor WhatsApp di luar aplikasi demi menghindari potongan. Dengan 0% komisi, kami merangkul perilaku alami pengguna, bukan melawannya.</a:t>
            </a:r>
          </a:p>
          <a:p>
            <a:pPr>
              <a:defRPr sz="1100" b="1">
                <a:solidFill>
                  <a:srgbClr val="312E81"/>
                </a:solidFill>
              </a:defRPr>
            </a:pPr>
            <a:r>
              <a:t>✦ 3. Retensi Berbasis High Switching Cost:</a:t>
            </a:r>
          </a:p>
          <a:p>
            <a:pPr>
              <a:defRPr sz="950">
                <a:solidFill>
                  <a:srgbClr val="475569"/>
                </a:solidFill>
              </a:defRPr>
            </a:pPr>
            <a:r>
              <a:t>   Ketika pemilik sudah menikmati cetak kwitansi 1-klik, kalkulator listrik otomatis, dan laporan keuangan rapi, mereka akan setia berlangganan karena efisiensi kerja yang didapat jauh melampaui harga langganannya.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